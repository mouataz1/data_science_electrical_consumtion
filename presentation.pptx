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9753600" cy="7315200"/>
  <p:notesSz cx="6858000" cy="9144000"/>
  <p:embeddedFontLst>
    <p:embeddedFont>
      <p:font typeface="Archivo Black" charset="1" panose="020B0A03020202020B04"/>
      <p:regular r:id="rId22"/>
    </p:embeddedFont>
    <p:embeddedFont>
      <p:font typeface="Montserrat Bold Italics" charset="1" panose="00000800000000000000"/>
      <p:regular r:id="rId23"/>
    </p:embeddedFont>
    <p:embeddedFont>
      <p:font typeface="Montserrat Italics" charset="1" panose="00000500000000000000"/>
      <p:regular r:id="rId24"/>
    </p:embeddedFont>
    <p:embeddedFont>
      <p:font typeface="Montserrat" charset="1" panose="00000500000000000000"/>
      <p:regular r:id="rId25"/>
    </p:embeddedFont>
    <p:embeddedFont>
      <p:font typeface="Montserrat Bold" charset="1" panose="000008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022080" y="2669615"/>
            <a:ext cx="1975970" cy="197597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CC0"/>
            </a:solidFill>
          </p:spPr>
        </p:sp>
        <p:sp>
          <p:nvSpPr>
            <p:cNvPr name="TextBox 4" id="4"/>
            <p:cNvSpPr txBox="true"/>
            <p:nvPr/>
          </p:nvSpPr>
          <p:spPr>
            <a:xfrm>
              <a:off x="76200" y="123825"/>
              <a:ext cx="660400" cy="612775"/>
            </a:xfrm>
            <a:prstGeom prst="rect">
              <a:avLst/>
            </a:prstGeom>
          </p:spPr>
          <p:txBody>
            <a:bodyPr anchor="ctr" rtlCol="false" tIns="50800" lIns="50800" bIns="50800" rIns="50800"/>
            <a:lstStyle/>
            <a:p>
              <a:pPr algn="ctr">
                <a:lnSpc>
                  <a:spcPts val="1620"/>
                </a:lnSpc>
              </a:pPr>
            </a:p>
          </p:txBody>
        </p:sp>
      </p:grpSp>
      <p:sp>
        <p:nvSpPr>
          <p:cNvPr name="Freeform 5" id="5"/>
          <p:cNvSpPr/>
          <p:nvPr/>
        </p:nvSpPr>
        <p:spPr>
          <a:xfrm flipH="false" flipV="false" rot="0">
            <a:off x="0" y="5585620"/>
            <a:ext cx="9753600" cy="3144561"/>
          </a:xfrm>
          <a:custGeom>
            <a:avLst/>
            <a:gdLst/>
            <a:ahLst/>
            <a:cxnLst/>
            <a:rect r="r" b="b" t="t" l="l"/>
            <a:pathLst>
              <a:path h="3144561" w="9753600">
                <a:moveTo>
                  <a:pt x="0" y="0"/>
                </a:moveTo>
                <a:lnTo>
                  <a:pt x="9753600" y="0"/>
                </a:lnTo>
                <a:lnTo>
                  <a:pt x="9753600" y="3144560"/>
                </a:lnTo>
                <a:lnTo>
                  <a:pt x="0" y="31445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377552" y="-1179509"/>
            <a:ext cx="2755104" cy="27551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CC0"/>
            </a:solidFill>
          </p:spPr>
        </p:sp>
        <p:sp>
          <p:nvSpPr>
            <p:cNvPr name="TextBox 8" id="8"/>
            <p:cNvSpPr txBox="true"/>
            <p:nvPr/>
          </p:nvSpPr>
          <p:spPr>
            <a:xfrm>
              <a:off x="76200" y="123825"/>
              <a:ext cx="660400" cy="612775"/>
            </a:xfrm>
            <a:prstGeom prst="rect">
              <a:avLst/>
            </a:prstGeom>
          </p:spPr>
          <p:txBody>
            <a:bodyPr anchor="ctr" rtlCol="false" tIns="50800" lIns="50800" bIns="50800" rIns="50800"/>
            <a:lstStyle/>
            <a:p>
              <a:pPr algn="ctr">
                <a:lnSpc>
                  <a:spcPts val="1620"/>
                </a:lnSpc>
              </a:pPr>
            </a:p>
          </p:txBody>
        </p:sp>
      </p:grpSp>
      <p:sp>
        <p:nvSpPr>
          <p:cNvPr name="Freeform 9" id="9"/>
          <p:cNvSpPr/>
          <p:nvPr/>
        </p:nvSpPr>
        <p:spPr>
          <a:xfrm flipH="false" flipV="false" rot="0">
            <a:off x="731520" y="5224634"/>
            <a:ext cx="1025814" cy="1025814"/>
          </a:xfrm>
          <a:custGeom>
            <a:avLst/>
            <a:gdLst/>
            <a:ahLst/>
            <a:cxnLst/>
            <a:rect r="r" b="b" t="t" l="l"/>
            <a:pathLst>
              <a:path h="1025814" w="1025814">
                <a:moveTo>
                  <a:pt x="0" y="0"/>
                </a:moveTo>
                <a:lnTo>
                  <a:pt x="1025814" y="0"/>
                </a:lnTo>
                <a:lnTo>
                  <a:pt x="1025814" y="1025814"/>
                </a:lnTo>
                <a:lnTo>
                  <a:pt x="0" y="10258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351923" y="1062207"/>
            <a:ext cx="7049753" cy="2392682"/>
          </a:xfrm>
          <a:prstGeom prst="rect">
            <a:avLst/>
          </a:prstGeom>
        </p:spPr>
        <p:txBody>
          <a:bodyPr anchor="t" rtlCol="false" tIns="0" lIns="0" bIns="0" rIns="0">
            <a:spAutoFit/>
          </a:bodyPr>
          <a:lstStyle/>
          <a:p>
            <a:pPr algn="ctr">
              <a:lnSpc>
                <a:spcPts val="4140"/>
              </a:lnSpc>
            </a:pPr>
            <a:r>
              <a:rPr lang="en-US" sz="4600">
                <a:solidFill>
                  <a:srgbClr val="1F3685"/>
                </a:solidFill>
                <a:latin typeface="Archivo Black"/>
                <a:ea typeface="Archivo Black"/>
                <a:cs typeface="Archivo Black"/>
                <a:sym typeface="Archivo Black"/>
              </a:rPr>
              <a:t>ANALYSE ET PRÉVISION DE LA CONSOMMATION ÉLECTRIQUE</a:t>
            </a:r>
          </a:p>
          <a:p>
            <a:pPr algn="ctr" marL="0" indent="0" lvl="0">
              <a:lnSpc>
                <a:spcPts val="2250"/>
              </a:lnSpc>
            </a:pPr>
            <a:r>
              <a:rPr lang="en-US" sz="2500">
                <a:solidFill>
                  <a:srgbClr val="1F3685"/>
                </a:solidFill>
                <a:latin typeface="Archivo Black"/>
                <a:ea typeface="Archivo Black"/>
                <a:cs typeface="Archivo Black"/>
                <a:sym typeface="Archivo Black"/>
              </a:rPr>
              <a:t> PROJET DATA SCIENCE</a:t>
            </a:r>
          </a:p>
        </p:txBody>
      </p:sp>
      <p:sp>
        <p:nvSpPr>
          <p:cNvPr name="TextBox 11" id="11"/>
          <p:cNvSpPr txBox="true"/>
          <p:nvPr/>
        </p:nvSpPr>
        <p:spPr>
          <a:xfrm rot="0">
            <a:off x="2980562" y="3733800"/>
            <a:ext cx="3792475" cy="1348740"/>
          </a:xfrm>
          <a:prstGeom prst="rect">
            <a:avLst/>
          </a:prstGeom>
        </p:spPr>
        <p:txBody>
          <a:bodyPr anchor="t" rtlCol="false" tIns="0" lIns="0" bIns="0" rIns="0">
            <a:spAutoFit/>
          </a:bodyPr>
          <a:lstStyle/>
          <a:p>
            <a:pPr algn="ctr">
              <a:lnSpc>
                <a:spcPts val="2160"/>
              </a:lnSpc>
            </a:pPr>
            <a:r>
              <a:rPr lang="en-US" b="true" sz="2400" i="true">
                <a:solidFill>
                  <a:srgbClr val="1F3685"/>
                </a:solidFill>
                <a:latin typeface="Montserrat Bold Italics"/>
                <a:ea typeface="Montserrat Bold Italics"/>
                <a:cs typeface="Montserrat Bold Italics"/>
                <a:sym typeface="Montserrat Bold Italics"/>
              </a:rPr>
              <a:t>      Présenté</a:t>
            </a:r>
            <a:r>
              <a:rPr lang="en-US" b="true" sz="2400" i="true">
                <a:solidFill>
                  <a:srgbClr val="1F3685"/>
                </a:solidFill>
                <a:latin typeface="Montserrat Bold Italics"/>
                <a:ea typeface="Montserrat Bold Italics"/>
                <a:cs typeface="Montserrat Bold Italics"/>
                <a:sym typeface="Montserrat Bold Italics"/>
              </a:rPr>
              <a:t> par </a:t>
            </a:r>
          </a:p>
          <a:p>
            <a:pPr algn="ctr" marL="518160" indent="-259080" lvl="1">
              <a:lnSpc>
                <a:spcPts val="2160"/>
              </a:lnSpc>
              <a:buFont typeface="Arial"/>
              <a:buChar char="•"/>
            </a:pPr>
            <a:r>
              <a:rPr lang="en-US" sz="2400" i="true">
                <a:solidFill>
                  <a:srgbClr val="1F3685"/>
                </a:solidFill>
                <a:latin typeface="Montserrat Italics"/>
                <a:ea typeface="Montserrat Italics"/>
                <a:cs typeface="Montserrat Italics"/>
                <a:sym typeface="Montserrat Italics"/>
              </a:rPr>
              <a:t>HAKKOU MOUATAZ</a:t>
            </a:r>
          </a:p>
          <a:p>
            <a:pPr algn="ctr" marL="518160" indent="-259080" lvl="1">
              <a:lnSpc>
                <a:spcPts val="2160"/>
              </a:lnSpc>
              <a:buFont typeface="Arial"/>
              <a:buChar char="•"/>
            </a:pPr>
            <a:r>
              <a:rPr lang="en-US" sz="2400" i="true">
                <a:solidFill>
                  <a:srgbClr val="1F3685"/>
                </a:solidFill>
                <a:latin typeface="Montserrat Italics"/>
                <a:ea typeface="Montserrat Italics"/>
                <a:cs typeface="Montserrat Italics"/>
                <a:sym typeface="Montserrat Italics"/>
              </a:rPr>
              <a:t>OUZZINE OTHMANE</a:t>
            </a:r>
          </a:p>
          <a:p>
            <a:pPr algn="ctr" marL="518160" indent="-259080" lvl="1">
              <a:lnSpc>
                <a:spcPts val="2160"/>
              </a:lnSpc>
              <a:buFont typeface="Arial"/>
              <a:buChar char="•"/>
            </a:pPr>
            <a:r>
              <a:rPr lang="en-US" sz="2400" i="true">
                <a:solidFill>
                  <a:srgbClr val="1F3685"/>
                </a:solidFill>
                <a:latin typeface="Montserrat Italics"/>
                <a:ea typeface="Montserrat Italics"/>
                <a:cs typeface="Montserrat Italics"/>
                <a:sym typeface="Montserrat Italics"/>
              </a:rPr>
              <a:t>ZAYNAB EL MOUDNI </a:t>
            </a:r>
          </a:p>
          <a:p>
            <a:pPr algn="ctr" marL="518160" indent="-259080" lvl="1">
              <a:lnSpc>
                <a:spcPts val="2160"/>
              </a:lnSpc>
              <a:buFont typeface="Arial"/>
              <a:buChar char="•"/>
            </a:pPr>
            <a:r>
              <a:rPr lang="en-US" sz="2400" i="true">
                <a:solidFill>
                  <a:srgbClr val="1F3685"/>
                </a:solidFill>
                <a:latin typeface="Montserrat Italics"/>
                <a:ea typeface="Montserrat Italics"/>
                <a:cs typeface="Montserrat Italics"/>
                <a:sym typeface="Montserrat Italics"/>
              </a:rPr>
              <a:t>HAJAR BOUZID </a:t>
            </a:r>
          </a:p>
        </p:txBody>
      </p:sp>
      <p:sp>
        <p:nvSpPr>
          <p:cNvPr name="TextBox 12" id="12"/>
          <p:cNvSpPr txBox="true"/>
          <p:nvPr/>
        </p:nvSpPr>
        <p:spPr>
          <a:xfrm rot="0">
            <a:off x="3813803" y="510540"/>
            <a:ext cx="2125995" cy="220980"/>
          </a:xfrm>
          <a:prstGeom prst="rect">
            <a:avLst/>
          </a:prstGeom>
        </p:spPr>
        <p:txBody>
          <a:bodyPr anchor="t" rtlCol="false" tIns="0" lIns="0" bIns="0" rIns="0">
            <a:spAutoFit/>
          </a:bodyPr>
          <a:lstStyle/>
          <a:p>
            <a:pPr algn="ctr" marL="0" indent="0" lvl="0">
              <a:lnSpc>
                <a:spcPts val="1620"/>
              </a:lnSpc>
            </a:pPr>
            <a:r>
              <a:rPr lang="en-US" sz="1800">
                <a:solidFill>
                  <a:srgbClr val="000000"/>
                </a:solidFill>
                <a:latin typeface="Montserrat"/>
                <a:ea typeface="Montserrat"/>
                <a:cs typeface="Montserrat"/>
                <a:sym typeface="Montserrat"/>
              </a:rPr>
              <a:t>02/02/2026</a:t>
            </a:r>
          </a:p>
        </p:txBody>
      </p:sp>
      <p:sp>
        <p:nvSpPr>
          <p:cNvPr name="Freeform 13" id="13"/>
          <p:cNvSpPr/>
          <p:nvPr/>
        </p:nvSpPr>
        <p:spPr>
          <a:xfrm flipH="false" flipV="false" rot="0">
            <a:off x="7512401" y="-521129"/>
            <a:ext cx="1074077" cy="1074077"/>
          </a:xfrm>
          <a:custGeom>
            <a:avLst/>
            <a:gdLst/>
            <a:ahLst/>
            <a:cxnLst/>
            <a:rect r="r" b="b" t="t" l="l"/>
            <a:pathLst>
              <a:path h="1074077" w="1074077">
                <a:moveTo>
                  <a:pt x="0" y="0"/>
                </a:moveTo>
                <a:lnTo>
                  <a:pt x="1074076" y="0"/>
                </a:lnTo>
                <a:lnTo>
                  <a:pt x="1074076" y="1074076"/>
                </a:lnTo>
                <a:lnTo>
                  <a:pt x="0" y="10740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2980562" y="5358765"/>
            <a:ext cx="3792475" cy="548640"/>
          </a:xfrm>
          <a:prstGeom prst="rect">
            <a:avLst/>
          </a:prstGeom>
        </p:spPr>
        <p:txBody>
          <a:bodyPr anchor="t" rtlCol="false" tIns="0" lIns="0" bIns="0" rIns="0">
            <a:spAutoFit/>
          </a:bodyPr>
          <a:lstStyle/>
          <a:p>
            <a:pPr algn="ctr">
              <a:lnSpc>
                <a:spcPts val="2160"/>
              </a:lnSpc>
            </a:pPr>
            <a:r>
              <a:rPr lang="en-US" b="true" sz="2400" i="true">
                <a:solidFill>
                  <a:srgbClr val="1F3685"/>
                </a:solidFill>
                <a:latin typeface="Montserrat Bold Italics"/>
                <a:ea typeface="Montserrat Bold Italics"/>
                <a:cs typeface="Montserrat Bold Italics"/>
                <a:sym typeface="Montserrat Bold Italics"/>
              </a:rPr>
              <a:t>     Encadré par </a:t>
            </a:r>
          </a:p>
          <a:p>
            <a:pPr algn="ctr" marL="518160" indent="-259080" lvl="1">
              <a:lnSpc>
                <a:spcPts val="2160"/>
              </a:lnSpc>
              <a:buFont typeface="Arial"/>
              <a:buChar char="•"/>
            </a:pPr>
            <a:r>
              <a:rPr lang="en-US" sz="2400" i="true">
                <a:solidFill>
                  <a:srgbClr val="1F3685"/>
                </a:solidFill>
                <a:latin typeface="Montserrat Italics"/>
                <a:ea typeface="Montserrat Italics"/>
                <a:cs typeface="Montserrat Italics"/>
                <a:sym typeface="Montserrat Italics"/>
              </a:rPr>
              <a:t>MR ELALAMI YASSER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31520" y="2226945"/>
            <a:ext cx="7806278" cy="1915530"/>
            <a:chOff x="0" y="0"/>
            <a:chExt cx="2891214" cy="709455"/>
          </a:xfrm>
        </p:grpSpPr>
        <p:sp>
          <p:nvSpPr>
            <p:cNvPr name="Freeform 3" id="3"/>
            <p:cNvSpPr/>
            <p:nvPr/>
          </p:nvSpPr>
          <p:spPr>
            <a:xfrm flipH="false" flipV="false" rot="0">
              <a:off x="0" y="0"/>
              <a:ext cx="2891214" cy="709455"/>
            </a:xfrm>
            <a:custGeom>
              <a:avLst/>
              <a:gdLst/>
              <a:ahLst/>
              <a:cxnLst/>
              <a:rect r="r" b="b" t="t" l="l"/>
              <a:pathLst>
                <a:path h="709455" w="2891214">
                  <a:moveTo>
                    <a:pt x="35703" y="0"/>
                  </a:moveTo>
                  <a:lnTo>
                    <a:pt x="2855511" y="0"/>
                  </a:lnTo>
                  <a:cubicBezTo>
                    <a:pt x="2864980" y="0"/>
                    <a:pt x="2874061" y="3762"/>
                    <a:pt x="2880757" y="10457"/>
                  </a:cubicBezTo>
                  <a:cubicBezTo>
                    <a:pt x="2887453" y="17153"/>
                    <a:pt x="2891214" y="26234"/>
                    <a:pt x="2891214" y="35703"/>
                  </a:cubicBezTo>
                  <a:lnTo>
                    <a:pt x="2891214" y="673752"/>
                  </a:lnTo>
                  <a:cubicBezTo>
                    <a:pt x="2891214" y="693471"/>
                    <a:pt x="2875229" y="709455"/>
                    <a:pt x="2855511" y="709455"/>
                  </a:cubicBezTo>
                  <a:lnTo>
                    <a:pt x="35703" y="709455"/>
                  </a:lnTo>
                  <a:cubicBezTo>
                    <a:pt x="15985" y="709455"/>
                    <a:pt x="0" y="693471"/>
                    <a:pt x="0" y="673752"/>
                  </a:cubicBezTo>
                  <a:lnTo>
                    <a:pt x="0" y="35703"/>
                  </a:lnTo>
                  <a:cubicBezTo>
                    <a:pt x="0" y="15985"/>
                    <a:pt x="15985" y="0"/>
                    <a:pt x="35703" y="0"/>
                  </a:cubicBezTo>
                  <a:close/>
                </a:path>
              </a:pathLst>
            </a:custGeom>
            <a:solidFill>
              <a:srgbClr val="2B4CC0"/>
            </a:solidFill>
          </p:spPr>
        </p:sp>
        <p:sp>
          <p:nvSpPr>
            <p:cNvPr name="TextBox 4" id="4"/>
            <p:cNvSpPr txBox="true"/>
            <p:nvPr/>
          </p:nvSpPr>
          <p:spPr>
            <a:xfrm>
              <a:off x="0" y="47625"/>
              <a:ext cx="2891214" cy="661830"/>
            </a:xfrm>
            <a:prstGeom prst="rect">
              <a:avLst/>
            </a:prstGeom>
          </p:spPr>
          <p:txBody>
            <a:bodyPr anchor="ctr" rtlCol="false" tIns="50800" lIns="50800" bIns="50800" rIns="50800"/>
            <a:lstStyle/>
            <a:p>
              <a:pPr algn="ctr">
                <a:lnSpc>
                  <a:spcPts val="1620"/>
                </a:lnSpc>
              </a:pPr>
            </a:p>
          </p:txBody>
        </p:sp>
      </p:grpSp>
      <p:sp>
        <p:nvSpPr>
          <p:cNvPr name="TextBox 5" id="5"/>
          <p:cNvSpPr txBox="true"/>
          <p:nvPr/>
        </p:nvSpPr>
        <p:spPr>
          <a:xfrm rot="0">
            <a:off x="1197577" y="836295"/>
            <a:ext cx="6761231" cy="1007745"/>
          </a:xfrm>
          <a:prstGeom prst="rect">
            <a:avLst/>
          </a:prstGeom>
        </p:spPr>
        <p:txBody>
          <a:bodyPr anchor="t" rtlCol="false" tIns="0" lIns="0" bIns="0" rIns="0">
            <a:spAutoFit/>
          </a:bodyPr>
          <a:lstStyle/>
          <a:p>
            <a:pPr algn="l" marL="0" indent="0" lvl="0">
              <a:lnSpc>
                <a:spcPts val="3780"/>
              </a:lnSpc>
            </a:pPr>
            <a:r>
              <a:rPr lang="en-US" sz="4200">
                <a:solidFill>
                  <a:srgbClr val="1F3685"/>
                </a:solidFill>
                <a:latin typeface="Archivo Black"/>
                <a:ea typeface="Archivo Black"/>
                <a:cs typeface="Archivo Black"/>
                <a:sym typeface="Archivo Black"/>
              </a:rPr>
              <a:t>CONTEXTE ET OBJECTIF</a:t>
            </a:r>
          </a:p>
        </p:txBody>
      </p:sp>
      <p:sp>
        <p:nvSpPr>
          <p:cNvPr name="TextBox 6" id="6"/>
          <p:cNvSpPr txBox="true"/>
          <p:nvPr/>
        </p:nvSpPr>
        <p:spPr>
          <a:xfrm rot="0">
            <a:off x="1197577" y="1975485"/>
            <a:ext cx="5415671" cy="251460"/>
          </a:xfrm>
          <a:prstGeom prst="rect">
            <a:avLst/>
          </a:prstGeom>
        </p:spPr>
        <p:txBody>
          <a:bodyPr anchor="t" rtlCol="false" tIns="0" lIns="0" bIns="0" rIns="0">
            <a:spAutoFit/>
          </a:bodyPr>
          <a:lstStyle/>
          <a:p>
            <a:pPr algn="l" marL="0" indent="0" lvl="0">
              <a:lnSpc>
                <a:spcPts val="1890"/>
              </a:lnSpc>
            </a:pPr>
            <a:r>
              <a:rPr lang="en-US" sz="2100">
                <a:solidFill>
                  <a:srgbClr val="000000"/>
                </a:solidFill>
                <a:latin typeface="Montserrat"/>
                <a:ea typeface="Montserrat"/>
                <a:cs typeface="Montserrat"/>
                <a:sym typeface="Montserrat"/>
              </a:rPr>
              <a:t>Contexte </a:t>
            </a:r>
          </a:p>
        </p:txBody>
      </p:sp>
      <p:sp>
        <p:nvSpPr>
          <p:cNvPr name="TextBox 7" id="7"/>
          <p:cNvSpPr txBox="true"/>
          <p:nvPr/>
        </p:nvSpPr>
        <p:spPr>
          <a:xfrm rot="0">
            <a:off x="4465067" y="2428875"/>
            <a:ext cx="4154137" cy="1138555"/>
          </a:xfrm>
          <a:prstGeom prst="rect">
            <a:avLst/>
          </a:prstGeom>
        </p:spPr>
        <p:txBody>
          <a:bodyPr anchor="t" rtlCol="false" tIns="0" lIns="0" bIns="0" rIns="0">
            <a:spAutoFit/>
          </a:bodyPr>
          <a:lstStyle/>
          <a:p>
            <a:pPr algn="l">
              <a:lnSpc>
                <a:spcPts val="1820"/>
              </a:lnSpc>
            </a:pPr>
            <a:r>
              <a:rPr lang="en-US" sz="1300">
                <a:solidFill>
                  <a:srgbClr val="FFFFFF"/>
                </a:solidFill>
                <a:latin typeface="Montserrat"/>
                <a:ea typeface="Montserrat"/>
                <a:cs typeface="Montserrat"/>
                <a:sym typeface="Montserrat"/>
              </a:rPr>
              <a:t>Une mauvaise anticipation entraîne :</a:t>
            </a:r>
          </a:p>
          <a:p>
            <a:pPr algn="l" marL="280673" indent="-140336" lvl="1">
              <a:lnSpc>
                <a:spcPts val="1820"/>
              </a:lnSpc>
              <a:buFont typeface="Arial"/>
              <a:buChar char="•"/>
            </a:pPr>
            <a:r>
              <a:rPr lang="en-US" sz="1300">
                <a:solidFill>
                  <a:srgbClr val="FFFFFF"/>
                </a:solidFill>
                <a:latin typeface="Montserrat"/>
                <a:ea typeface="Montserrat"/>
                <a:cs typeface="Montserrat"/>
                <a:sym typeface="Montserrat"/>
              </a:rPr>
              <a:t>surcharge du réseau</a:t>
            </a:r>
          </a:p>
          <a:p>
            <a:pPr algn="l" marL="280673" indent="-140336" lvl="1">
              <a:lnSpc>
                <a:spcPts val="1820"/>
              </a:lnSpc>
              <a:buFont typeface="Arial"/>
              <a:buChar char="•"/>
            </a:pPr>
            <a:r>
              <a:rPr lang="en-US" sz="1300">
                <a:solidFill>
                  <a:srgbClr val="FFFFFF"/>
                </a:solidFill>
                <a:latin typeface="Montserrat"/>
                <a:ea typeface="Montserrat"/>
                <a:cs typeface="Montserrat"/>
                <a:sym typeface="Montserrat"/>
              </a:rPr>
              <a:t>gaspillage énergétique</a:t>
            </a:r>
          </a:p>
          <a:p>
            <a:pPr algn="l" marL="280673" indent="-140336" lvl="1">
              <a:lnSpc>
                <a:spcPts val="1820"/>
              </a:lnSpc>
              <a:buFont typeface="Arial"/>
              <a:buChar char="•"/>
            </a:pPr>
            <a:r>
              <a:rPr lang="en-US" sz="1300">
                <a:solidFill>
                  <a:srgbClr val="FFFFFF"/>
                </a:solidFill>
                <a:latin typeface="Montserrat"/>
                <a:ea typeface="Montserrat"/>
                <a:cs typeface="Montserrat"/>
                <a:sym typeface="Montserrat"/>
              </a:rPr>
              <a:t>hausse des coûts</a:t>
            </a:r>
          </a:p>
          <a:p>
            <a:pPr algn="l">
              <a:lnSpc>
                <a:spcPts val="1820"/>
              </a:lnSpc>
            </a:pPr>
          </a:p>
        </p:txBody>
      </p:sp>
      <p:sp>
        <p:nvSpPr>
          <p:cNvPr name="TextBox 8" id="8"/>
          <p:cNvSpPr txBox="true"/>
          <p:nvPr/>
        </p:nvSpPr>
        <p:spPr>
          <a:xfrm rot="0">
            <a:off x="1197577" y="3156135"/>
            <a:ext cx="2546915" cy="452755"/>
          </a:xfrm>
          <a:prstGeom prst="rect">
            <a:avLst/>
          </a:prstGeom>
        </p:spPr>
        <p:txBody>
          <a:bodyPr anchor="t" rtlCol="false" tIns="0" lIns="0" bIns="0" rIns="0">
            <a:spAutoFit/>
          </a:bodyPr>
          <a:lstStyle/>
          <a:p>
            <a:pPr algn="l">
              <a:lnSpc>
                <a:spcPts val="1820"/>
              </a:lnSpc>
            </a:pPr>
            <a:r>
              <a:rPr lang="en-US" sz="1300">
                <a:solidFill>
                  <a:srgbClr val="FFFFFF"/>
                </a:solidFill>
                <a:latin typeface="Montserrat"/>
                <a:ea typeface="Montserrat"/>
                <a:cs typeface="Montserrat"/>
                <a:sym typeface="Montserrat"/>
              </a:rPr>
              <a:t>Les fournisseurs ont besoin de prévisions fiables</a:t>
            </a:r>
          </a:p>
        </p:txBody>
      </p:sp>
      <p:sp>
        <p:nvSpPr>
          <p:cNvPr name="TextBox 9" id="9"/>
          <p:cNvSpPr txBox="true"/>
          <p:nvPr/>
        </p:nvSpPr>
        <p:spPr>
          <a:xfrm rot="0">
            <a:off x="1197577" y="2428875"/>
            <a:ext cx="2546915" cy="452755"/>
          </a:xfrm>
          <a:prstGeom prst="rect">
            <a:avLst/>
          </a:prstGeom>
        </p:spPr>
        <p:txBody>
          <a:bodyPr anchor="t" rtlCol="false" tIns="0" lIns="0" bIns="0" rIns="0">
            <a:spAutoFit/>
          </a:bodyPr>
          <a:lstStyle/>
          <a:p>
            <a:pPr algn="l">
              <a:lnSpc>
                <a:spcPts val="1820"/>
              </a:lnSpc>
            </a:pPr>
            <a:r>
              <a:rPr lang="en-US" sz="1300">
                <a:solidFill>
                  <a:srgbClr val="FFFFFF"/>
                </a:solidFill>
                <a:latin typeface="Montserrat"/>
                <a:ea typeface="Montserrat"/>
                <a:cs typeface="Montserrat"/>
                <a:sym typeface="Montserrat"/>
              </a:rPr>
              <a:t>La demande en électricité varie fortement dans le temps</a:t>
            </a:r>
          </a:p>
        </p:txBody>
      </p:sp>
      <p:sp>
        <p:nvSpPr>
          <p:cNvPr name="Freeform 10" id="10"/>
          <p:cNvSpPr/>
          <p:nvPr/>
        </p:nvSpPr>
        <p:spPr>
          <a:xfrm flipH="false" flipV="false" rot="0">
            <a:off x="9178859" y="2886075"/>
            <a:ext cx="906780" cy="906780"/>
          </a:xfrm>
          <a:custGeom>
            <a:avLst/>
            <a:gdLst/>
            <a:ahLst/>
            <a:cxnLst/>
            <a:rect r="r" b="b" t="t" l="l"/>
            <a:pathLst>
              <a:path h="906780" w="906780">
                <a:moveTo>
                  <a:pt x="0" y="0"/>
                </a:moveTo>
                <a:lnTo>
                  <a:pt x="906781" y="0"/>
                </a:lnTo>
                <a:lnTo>
                  <a:pt x="906781" y="906780"/>
                </a:lnTo>
                <a:lnTo>
                  <a:pt x="0" y="906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623060" y="731520"/>
            <a:ext cx="2354580" cy="235458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13" id="13"/>
            <p:cNvSpPr txBox="true"/>
            <p:nvPr/>
          </p:nvSpPr>
          <p:spPr>
            <a:xfrm>
              <a:off x="76200" y="123825"/>
              <a:ext cx="660400" cy="612775"/>
            </a:xfrm>
            <a:prstGeom prst="rect">
              <a:avLst/>
            </a:prstGeom>
          </p:spPr>
          <p:txBody>
            <a:bodyPr anchor="ctr" rtlCol="false" tIns="50800" lIns="50800" bIns="50800" rIns="50800"/>
            <a:lstStyle/>
            <a:p>
              <a:pPr algn="ctr">
                <a:lnSpc>
                  <a:spcPts val="1620"/>
                </a:lnSpc>
              </a:pPr>
            </a:p>
          </p:txBody>
        </p:sp>
      </p:grpSp>
      <p:grpSp>
        <p:nvGrpSpPr>
          <p:cNvPr name="Group 14" id="14"/>
          <p:cNvGrpSpPr/>
          <p:nvPr/>
        </p:nvGrpSpPr>
        <p:grpSpPr>
          <a:xfrm rot="0">
            <a:off x="731520" y="4953958"/>
            <a:ext cx="7806278" cy="1908738"/>
            <a:chOff x="0" y="0"/>
            <a:chExt cx="2891214" cy="706940"/>
          </a:xfrm>
        </p:grpSpPr>
        <p:sp>
          <p:nvSpPr>
            <p:cNvPr name="Freeform 15" id="15"/>
            <p:cNvSpPr/>
            <p:nvPr/>
          </p:nvSpPr>
          <p:spPr>
            <a:xfrm flipH="false" flipV="false" rot="0">
              <a:off x="0" y="0"/>
              <a:ext cx="2891214" cy="706940"/>
            </a:xfrm>
            <a:custGeom>
              <a:avLst/>
              <a:gdLst/>
              <a:ahLst/>
              <a:cxnLst/>
              <a:rect r="r" b="b" t="t" l="l"/>
              <a:pathLst>
                <a:path h="706940" w="2891214">
                  <a:moveTo>
                    <a:pt x="35703" y="0"/>
                  </a:moveTo>
                  <a:lnTo>
                    <a:pt x="2855511" y="0"/>
                  </a:lnTo>
                  <a:cubicBezTo>
                    <a:pt x="2864980" y="0"/>
                    <a:pt x="2874061" y="3762"/>
                    <a:pt x="2880757" y="10457"/>
                  </a:cubicBezTo>
                  <a:cubicBezTo>
                    <a:pt x="2887453" y="17153"/>
                    <a:pt x="2891214" y="26234"/>
                    <a:pt x="2891214" y="35703"/>
                  </a:cubicBezTo>
                  <a:lnTo>
                    <a:pt x="2891214" y="671237"/>
                  </a:lnTo>
                  <a:cubicBezTo>
                    <a:pt x="2891214" y="690955"/>
                    <a:pt x="2875229" y="706940"/>
                    <a:pt x="2855511" y="706940"/>
                  </a:cubicBezTo>
                  <a:lnTo>
                    <a:pt x="35703" y="706940"/>
                  </a:lnTo>
                  <a:cubicBezTo>
                    <a:pt x="15985" y="706940"/>
                    <a:pt x="0" y="690955"/>
                    <a:pt x="0" y="671237"/>
                  </a:cubicBezTo>
                  <a:lnTo>
                    <a:pt x="0" y="35703"/>
                  </a:lnTo>
                  <a:cubicBezTo>
                    <a:pt x="0" y="15985"/>
                    <a:pt x="15985" y="0"/>
                    <a:pt x="35703" y="0"/>
                  </a:cubicBezTo>
                  <a:close/>
                </a:path>
              </a:pathLst>
            </a:custGeom>
            <a:solidFill>
              <a:srgbClr val="2B4CC0"/>
            </a:solidFill>
          </p:spPr>
        </p:sp>
        <p:sp>
          <p:nvSpPr>
            <p:cNvPr name="TextBox 16" id="16"/>
            <p:cNvSpPr txBox="true"/>
            <p:nvPr/>
          </p:nvSpPr>
          <p:spPr>
            <a:xfrm>
              <a:off x="0" y="47625"/>
              <a:ext cx="2891214" cy="659315"/>
            </a:xfrm>
            <a:prstGeom prst="rect">
              <a:avLst/>
            </a:prstGeom>
          </p:spPr>
          <p:txBody>
            <a:bodyPr anchor="ctr" rtlCol="false" tIns="50800" lIns="50800" bIns="50800" rIns="50800"/>
            <a:lstStyle/>
            <a:p>
              <a:pPr algn="ctr">
                <a:lnSpc>
                  <a:spcPts val="1620"/>
                </a:lnSpc>
              </a:pPr>
            </a:p>
          </p:txBody>
        </p:sp>
      </p:grpSp>
      <p:sp>
        <p:nvSpPr>
          <p:cNvPr name="TextBox 17" id="17"/>
          <p:cNvSpPr txBox="true"/>
          <p:nvPr/>
        </p:nvSpPr>
        <p:spPr>
          <a:xfrm rot="0">
            <a:off x="1197577" y="4485375"/>
            <a:ext cx="5415671" cy="251460"/>
          </a:xfrm>
          <a:prstGeom prst="rect">
            <a:avLst/>
          </a:prstGeom>
        </p:spPr>
        <p:txBody>
          <a:bodyPr anchor="t" rtlCol="false" tIns="0" lIns="0" bIns="0" rIns="0">
            <a:spAutoFit/>
          </a:bodyPr>
          <a:lstStyle/>
          <a:p>
            <a:pPr algn="l" marL="0" indent="0" lvl="0">
              <a:lnSpc>
                <a:spcPts val="1890"/>
              </a:lnSpc>
            </a:pPr>
            <a:r>
              <a:rPr lang="en-US" sz="2100">
                <a:solidFill>
                  <a:srgbClr val="000000"/>
                </a:solidFill>
                <a:latin typeface="Montserrat"/>
                <a:ea typeface="Montserrat"/>
                <a:cs typeface="Montserrat"/>
                <a:sym typeface="Montserrat"/>
              </a:rPr>
              <a:t>OBJECTIF</a:t>
            </a:r>
          </a:p>
        </p:txBody>
      </p:sp>
      <p:sp>
        <p:nvSpPr>
          <p:cNvPr name="TextBox 18" id="18"/>
          <p:cNvSpPr txBox="true"/>
          <p:nvPr/>
        </p:nvSpPr>
        <p:spPr>
          <a:xfrm rot="0">
            <a:off x="4578193" y="5317860"/>
            <a:ext cx="3158639" cy="224155"/>
          </a:xfrm>
          <a:prstGeom prst="rect">
            <a:avLst/>
          </a:prstGeom>
        </p:spPr>
        <p:txBody>
          <a:bodyPr anchor="t" rtlCol="false" tIns="0" lIns="0" bIns="0" rIns="0">
            <a:spAutoFit/>
          </a:bodyPr>
          <a:lstStyle/>
          <a:p>
            <a:pPr algn="l">
              <a:lnSpc>
                <a:spcPts val="1820"/>
              </a:lnSpc>
            </a:pPr>
            <a:r>
              <a:rPr lang="en-US" sz="1300">
                <a:solidFill>
                  <a:srgbClr val="FFFFFF"/>
                </a:solidFill>
                <a:latin typeface="Montserrat"/>
                <a:ea typeface="Montserrat"/>
                <a:cs typeface="Montserrat"/>
                <a:sym typeface="Montserrat"/>
              </a:rPr>
              <a:t>Aider à la planification énergétique</a:t>
            </a:r>
          </a:p>
        </p:txBody>
      </p:sp>
      <p:sp>
        <p:nvSpPr>
          <p:cNvPr name="TextBox 19" id="19"/>
          <p:cNvSpPr txBox="true"/>
          <p:nvPr/>
        </p:nvSpPr>
        <p:spPr>
          <a:xfrm rot="0">
            <a:off x="1197577" y="6018264"/>
            <a:ext cx="2546915" cy="452755"/>
          </a:xfrm>
          <a:prstGeom prst="rect">
            <a:avLst/>
          </a:prstGeom>
        </p:spPr>
        <p:txBody>
          <a:bodyPr anchor="t" rtlCol="false" tIns="0" lIns="0" bIns="0" rIns="0">
            <a:spAutoFit/>
          </a:bodyPr>
          <a:lstStyle/>
          <a:p>
            <a:pPr algn="l">
              <a:lnSpc>
                <a:spcPts val="1820"/>
              </a:lnSpc>
            </a:pPr>
            <a:r>
              <a:rPr lang="en-US" sz="1300">
                <a:solidFill>
                  <a:srgbClr val="FFFFFF"/>
                </a:solidFill>
                <a:latin typeface="Montserrat"/>
                <a:ea typeface="Montserrat"/>
                <a:cs typeface="Montserrat"/>
                <a:sym typeface="Montserrat"/>
              </a:rPr>
              <a:t>Construire des modèles prédictifs</a:t>
            </a:r>
          </a:p>
        </p:txBody>
      </p:sp>
      <p:sp>
        <p:nvSpPr>
          <p:cNvPr name="TextBox 20" id="20"/>
          <p:cNvSpPr txBox="true"/>
          <p:nvPr/>
        </p:nvSpPr>
        <p:spPr>
          <a:xfrm rot="0">
            <a:off x="1197577" y="5317860"/>
            <a:ext cx="2546915" cy="452755"/>
          </a:xfrm>
          <a:prstGeom prst="rect">
            <a:avLst/>
          </a:prstGeom>
        </p:spPr>
        <p:txBody>
          <a:bodyPr anchor="t" rtlCol="false" tIns="0" lIns="0" bIns="0" rIns="0">
            <a:spAutoFit/>
          </a:bodyPr>
          <a:lstStyle/>
          <a:p>
            <a:pPr algn="l">
              <a:lnSpc>
                <a:spcPts val="1820"/>
              </a:lnSpc>
            </a:pPr>
            <a:r>
              <a:rPr lang="en-US" sz="1300">
                <a:solidFill>
                  <a:srgbClr val="FFFFFF"/>
                </a:solidFill>
                <a:latin typeface="Montserrat"/>
                <a:ea typeface="Montserrat"/>
                <a:cs typeface="Montserrat"/>
                <a:sym typeface="Montserrat"/>
              </a:rPr>
              <a:t>Analyser les données de consommation électrique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941580" y="1249734"/>
            <a:ext cx="4169090" cy="834210"/>
          </a:xfrm>
          <a:custGeom>
            <a:avLst/>
            <a:gdLst/>
            <a:ahLst/>
            <a:cxnLst/>
            <a:rect r="r" b="b" t="t" l="l"/>
            <a:pathLst>
              <a:path h="834210" w="4169090">
                <a:moveTo>
                  <a:pt x="0" y="0"/>
                </a:moveTo>
                <a:lnTo>
                  <a:pt x="4169090" y="0"/>
                </a:lnTo>
                <a:lnTo>
                  <a:pt x="4169090" y="834210"/>
                </a:lnTo>
                <a:lnTo>
                  <a:pt x="0" y="834210"/>
                </a:lnTo>
                <a:lnTo>
                  <a:pt x="0" y="0"/>
                </a:lnTo>
                <a:close/>
              </a:path>
            </a:pathLst>
          </a:custGeom>
          <a:blipFill>
            <a:blip r:embed="rId2">
              <a:extLst>
                <a:ext uri="{96DAC541-7B7A-43D3-8B79-37D633B846F1}">
                  <asvg:svgBlip xmlns:asvg="http://schemas.microsoft.com/office/drawing/2016/SVG/main" r:embed="rId3"/>
                </a:ext>
              </a:extLst>
            </a:blip>
            <a:stretch>
              <a:fillRect l="-66014" t="0" r="-67935" b="-276950"/>
            </a:stretch>
          </a:blipFill>
        </p:spPr>
      </p:sp>
      <p:grpSp>
        <p:nvGrpSpPr>
          <p:cNvPr name="Group 3" id="3"/>
          <p:cNvGrpSpPr/>
          <p:nvPr/>
        </p:nvGrpSpPr>
        <p:grpSpPr>
          <a:xfrm rot="0">
            <a:off x="-653607" y="6962442"/>
            <a:ext cx="10844387" cy="703368"/>
            <a:chOff x="0" y="0"/>
            <a:chExt cx="4016440" cy="260507"/>
          </a:xfrm>
        </p:grpSpPr>
        <p:sp>
          <p:nvSpPr>
            <p:cNvPr name="Freeform 4" id="4"/>
            <p:cNvSpPr/>
            <p:nvPr/>
          </p:nvSpPr>
          <p:spPr>
            <a:xfrm flipH="false" flipV="false" rot="0">
              <a:off x="0" y="0"/>
              <a:ext cx="4016440" cy="260507"/>
            </a:xfrm>
            <a:custGeom>
              <a:avLst/>
              <a:gdLst/>
              <a:ahLst/>
              <a:cxnLst/>
              <a:rect r="r" b="b" t="t" l="l"/>
              <a:pathLst>
                <a:path h="260507" w="4016440">
                  <a:moveTo>
                    <a:pt x="25701" y="0"/>
                  </a:moveTo>
                  <a:lnTo>
                    <a:pt x="3990739" y="0"/>
                  </a:lnTo>
                  <a:cubicBezTo>
                    <a:pt x="3997555" y="0"/>
                    <a:pt x="4004092" y="2708"/>
                    <a:pt x="4008912" y="7528"/>
                  </a:cubicBezTo>
                  <a:cubicBezTo>
                    <a:pt x="4013732" y="12347"/>
                    <a:pt x="4016440" y="18885"/>
                    <a:pt x="4016440" y="25701"/>
                  </a:cubicBezTo>
                  <a:lnTo>
                    <a:pt x="4016440" y="234806"/>
                  </a:lnTo>
                  <a:cubicBezTo>
                    <a:pt x="4016440" y="241622"/>
                    <a:pt x="4013732" y="248159"/>
                    <a:pt x="4008912" y="252979"/>
                  </a:cubicBezTo>
                  <a:cubicBezTo>
                    <a:pt x="4004092" y="257799"/>
                    <a:pt x="3997555" y="260507"/>
                    <a:pt x="3990739" y="260507"/>
                  </a:cubicBezTo>
                  <a:lnTo>
                    <a:pt x="25701" y="260507"/>
                  </a:lnTo>
                  <a:cubicBezTo>
                    <a:pt x="11507" y="260507"/>
                    <a:pt x="0" y="249000"/>
                    <a:pt x="0" y="234806"/>
                  </a:cubicBezTo>
                  <a:lnTo>
                    <a:pt x="0" y="25701"/>
                  </a:lnTo>
                  <a:cubicBezTo>
                    <a:pt x="0" y="18885"/>
                    <a:pt x="2708" y="12347"/>
                    <a:pt x="7528" y="7528"/>
                  </a:cubicBezTo>
                  <a:cubicBezTo>
                    <a:pt x="12347" y="2708"/>
                    <a:pt x="18885" y="0"/>
                    <a:pt x="25701" y="0"/>
                  </a:cubicBezTo>
                  <a:close/>
                </a:path>
              </a:pathLst>
            </a:custGeom>
            <a:solidFill>
              <a:srgbClr val="1F3685"/>
            </a:solidFill>
          </p:spPr>
        </p:sp>
        <p:sp>
          <p:nvSpPr>
            <p:cNvPr name="TextBox 5" id="5"/>
            <p:cNvSpPr txBox="true"/>
            <p:nvPr/>
          </p:nvSpPr>
          <p:spPr>
            <a:xfrm>
              <a:off x="0" y="47625"/>
              <a:ext cx="4016440" cy="212882"/>
            </a:xfrm>
            <a:prstGeom prst="rect">
              <a:avLst/>
            </a:prstGeom>
          </p:spPr>
          <p:txBody>
            <a:bodyPr anchor="ctr" rtlCol="false" tIns="50800" lIns="50800" bIns="50800" rIns="50800"/>
            <a:lstStyle/>
            <a:p>
              <a:pPr algn="ctr">
                <a:lnSpc>
                  <a:spcPts val="1620"/>
                </a:lnSpc>
              </a:pPr>
            </a:p>
          </p:txBody>
        </p:sp>
      </p:grpSp>
      <p:grpSp>
        <p:nvGrpSpPr>
          <p:cNvPr name="Group 6" id="6"/>
          <p:cNvGrpSpPr/>
          <p:nvPr/>
        </p:nvGrpSpPr>
        <p:grpSpPr>
          <a:xfrm rot="0">
            <a:off x="731520" y="2637580"/>
            <a:ext cx="8290560" cy="1956519"/>
            <a:chOff x="0" y="0"/>
            <a:chExt cx="3070578" cy="724637"/>
          </a:xfrm>
        </p:grpSpPr>
        <p:sp>
          <p:nvSpPr>
            <p:cNvPr name="Freeform 7" id="7"/>
            <p:cNvSpPr/>
            <p:nvPr/>
          </p:nvSpPr>
          <p:spPr>
            <a:xfrm flipH="false" flipV="false" rot="0">
              <a:off x="0" y="0"/>
              <a:ext cx="3070578" cy="724637"/>
            </a:xfrm>
            <a:custGeom>
              <a:avLst/>
              <a:gdLst/>
              <a:ahLst/>
              <a:cxnLst/>
              <a:rect r="r" b="b" t="t" l="l"/>
              <a:pathLst>
                <a:path h="724637" w="3070578">
                  <a:moveTo>
                    <a:pt x="33618" y="0"/>
                  </a:moveTo>
                  <a:lnTo>
                    <a:pt x="3036960" y="0"/>
                  </a:lnTo>
                  <a:cubicBezTo>
                    <a:pt x="3045876" y="0"/>
                    <a:pt x="3054427" y="3542"/>
                    <a:pt x="3060731" y="9846"/>
                  </a:cubicBezTo>
                  <a:cubicBezTo>
                    <a:pt x="3067036" y="16151"/>
                    <a:pt x="3070578" y="24702"/>
                    <a:pt x="3070578" y="33618"/>
                  </a:cubicBezTo>
                  <a:lnTo>
                    <a:pt x="3070578" y="691019"/>
                  </a:lnTo>
                  <a:cubicBezTo>
                    <a:pt x="3070578" y="699935"/>
                    <a:pt x="3067036" y="708486"/>
                    <a:pt x="3060731" y="714790"/>
                  </a:cubicBezTo>
                  <a:cubicBezTo>
                    <a:pt x="3054427" y="721095"/>
                    <a:pt x="3045876" y="724637"/>
                    <a:pt x="3036960" y="724637"/>
                  </a:cubicBezTo>
                  <a:lnTo>
                    <a:pt x="33618" y="724637"/>
                  </a:lnTo>
                  <a:cubicBezTo>
                    <a:pt x="24702" y="724637"/>
                    <a:pt x="16151" y="721095"/>
                    <a:pt x="9846" y="714790"/>
                  </a:cubicBezTo>
                  <a:cubicBezTo>
                    <a:pt x="3542" y="708486"/>
                    <a:pt x="0" y="699935"/>
                    <a:pt x="0" y="691019"/>
                  </a:cubicBezTo>
                  <a:lnTo>
                    <a:pt x="0" y="33618"/>
                  </a:lnTo>
                  <a:cubicBezTo>
                    <a:pt x="0" y="24702"/>
                    <a:pt x="3542" y="16151"/>
                    <a:pt x="9846" y="9846"/>
                  </a:cubicBezTo>
                  <a:cubicBezTo>
                    <a:pt x="16151" y="3542"/>
                    <a:pt x="24702" y="0"/>
                    <a:pt x="33618" y="0"/>
                  </a:cubicBezTo>
                  <a:close/>
                </a:path>
              </a:pathLst>
            </a:custGeom>
            <a:solidFill>
              <a:srgbClr val="DFE9FF"/>
            </a:solidFill>
          </p:spPr>
        </p:sp>
        <p:sp>
          <p:nvSpPr>
            <p:cNvPr name="TextBox 8" id="8"/>
            <p:cNvSpPr txBox="true"/>
            <p:nvPr/>
          </p:nvSpPr>
          <p:spPr>
            <a:xfrm>
              <a:off x="0" y="47625"/>
              <a:ext cx="3070578" cy="677012"/>
            </a:xfrm>
            <a:prstGeom prst="rect">
              <a:avLst/>
            </a:prstGeom>
          </p:spPr>
          <p:txBody>
            <a:bodyPr anchor="ctr" rtlCol="false" tIns="50800" lIns="50800" bIns="50800" rIns="50800"/>
            <a:lstStyle/>
            <a:p>
              <a:pPr algn="ctr">
                <a:lnSpc>
                  <a:spcPts val="1620"/>
                </a:lnSpc>
              </a:pPr>
            </a:p>
          </p:txBody>
        </p:sp>
      </p:grpSp>
      <p:grpSp>
        <p:nvGrpSpPr>
          <p:cNvPr name="Group 9" id="9"/>
          <p:cNvGrpSpPr/>
          <p:nvPr/>
        </p:nvGrpSpPr>
        <p:grpSpPr>
          <a:xfrm rot="0">
            <a:off x="1262956" y="3208032"/>
            <a:ext cx="497193" cy="49719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CC0"/>
            </a:solidFill>
          </p:spPr>
        </p:sp>
        <p:sp>
          <p:nvSpPr>
            <p:cNvPr name="TextBox 11" id="11"/>
            <p:cNvSpPr txBox="true"/>
            <p:nvPr/>
          </p:nvSpPr>
          <p:spPr>
            <a:xfrm>
              <a:off x="76200" y="123825"/>
              <a:ext cx="660400" cy="612775"/>
            </a:xfrm>
            <a:prstGeom prst="rect">
              <a:avLst/>
            </a:prstGeom>
          </p:spPr>
          <p:txBody>
            <a:bodyPr anchor="ctr" rtlCol="false" tIns="50800" lIns="50800" bIns="50800" rIns="50800"/>
            <a:lstStyle/>
            <a:p>
              <a:pPr algn="ctr">
                <a:lnSpc>
                  <a:spcPts val="1439"/>
                </a:lnSpc>
              </a:pPr>
              <a:r>
                <a:rPr lang="en-US" sz="1599">
                  <a:solidFill>
                    <a:srgbClr val="FFFFFF"/>
                  </a:solidFill>
                  <a:latin typeface="Montserrat"/>
                  <a:ea typeface="Montserrat"/>
                  <a:cs typeface="Montserrat"/>
                  <a:sym typeface="Montserrat"/>
                </a:rPr>
                <a:t>1</a:t>
              </a:r>
            </a:p>
          </p:txBody>
        </p:sp>
      </p:grpSp>
      <p:grpSp>
        <p:nvGrpSpPr>
          <p:cNvPr name="Group 12" id="12"/>
          <p:cNvGrpSpPr/>
          <p:nvPr/>
        </p:nvGrpSpPr>
        <p:grpSpPr>
          <a:xfrm rot="0">
            <a:off x="1262956" y="3774645"/>
            <a:ext cx="497193" cy="49719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CC0"/>
            </a:solidFill>
          </p:spPr>
        </p:sp>
        <p:sp>
          <p:nvSpPr>
            <p:cNvPr name="TextBox 14" id="14"/>
            <p:cNvSpPr txBox="true"/>
            <p:nvPr/>
          </p:nvSpPr>
          <p:spPr>
            <a:xfrm>
              <a:off x="76200" y="123825"/>
              <a:ext cx="660400" cy="612775"/>
            </a:xfrm>
            <a:prstGeom prst="rect">
              <a:avLst/>
            </a:prstGeom>
          </p:spPr>
          <p:txBody>
            <a:bodyPr anchor="ctr" rtlCol="false" tIns="50800" lIns="50800" bIns="50800" rIns="50800"/>
            <a:lstStyle/>
            <a:p>
              <a:pPr algn="ctr">
                <a:lnSpc>
                  <a:spcPts val="1439"/>
                </a:lnSpc>
              </a:pPr>
              <a:r>
                <a:rPr lang="en-US" sz="1599">
                  <a:solidFill>
                    <a:srgbClr val="FFFFFF"/>
                  </a:solidFill>
                  <a:latin typeface="Montserrat"/>
                  <a:ea typeface="Montserrat"/>
                  <a:cs typeface="Montserrat"/>
                  <a:sym typeface="Montserrat"/>
                </a:rPr>
                <a:t>2</a:t>
              </a:r>
            </a:p>
          </p:txBody>
        </p:sp>
      </p:grpSp>
      <p:grpSp>
        <p:nvGrpSpPr>
          <p:cNvPr name="Group 15" id="15"/>
          <p:cNvGrpSpPr/>
          <p:nvPr/>
        </p:nvGrpSpPr>
        <p:grpSpPr>
          <a:xfrm rot="0">
            <a:off x="4859254" y="3118646"/>
            <a:ext cx="497193" cy="49719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CC0"/>
            </a:solidFill>
          </p:spPr>
        </p:sp>
        <p:sp>
          <p:nvSpPr>
            <p:cNvPr name="TextBox 17" id="17"/>
            <p:cNvSpPr txBox="true"/>
            <p:nvPr/>
          </p:nvSpPr>
          <p:spPr>
            <a:xfrm>
              <a:off x="76200" y="123825"/>
              <a:ext cx="660400" cy="612775"/>
            </a:xfrm>
            <a:prstGeom prst="rect">
              <a:avLst/>
            </a:prstGeom>
          </p:spPr>
          <p:txBody>
            <a:bodyPr anchor="ctr" rtlCol="false" tIns="50800" lIns="50800" bIns="50800" rIns="50800"/>
            <a:lstStyle/>
            <a:p>
              <a:pPr algn="ctr">
                <a:lnSpc>
                  <a:spcPts val="1439"/>
                </a:lnSpc>
              </a:pPr>
              <a:r>
                <a:rPr lang="en-US" sz="1599">
                  <a:solidFill>
                    <a:srgbClr val="FFFFFF"/>
                  </a:solidFill>
                  <a:latin typeface="Montserrat"/>
                  <a:ea typeface="Montserrat"/>
                  <a:cs typeface="Montserrat"/>
                  <a:sym typeface="Montserrat"/>
                </a:rPr>
                <a:t>3</a:t>
              </a:r>
            </a:p>
          </p:txBody>
        </p:sp>
      </p:grpSp>
      <p:grpSp>
        <p:nvGrpSpPr>
          <p:cNvPr name="Group 18" id="18"/>
          <p:cNvGrpSpPr/>
          <p:nvPr/>
        </p:nvGrpSpPr>
        <p:grpSpPr>
          <a:xfrm rot="0">
            <a:off x="4859254" y="3774645"/>
            <a:ext cx="497193" cy="49719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CC0"/>
            </a:solidFill>
          </p:spPr>
        </p:sp>
        <p:sp>
          <p:nvSpPr>
            <p:cNvPr name="TextBox 20" id="20"/>
            <p:cNvSpPr txBox="true"/>
            <p:nvPr/>
          </p:nvSpPr>
          <p:spPr>
            <a:xfrm>
              <a:off x="76200" y="123825"/>
              <a:ext cx="660400" cy="612775"/>
            </a:xfrm>
            <a:prstGeom prst="rect">
              <a:avLst/>
            </a:prstGeom>
          </p:spPr>
          <p:txBody>
            <a:bodyPr anchor="ctr" rtlCol="false" tIns="50800" lIns="50800" bIns="50800" rIns="50800"/>
            <a:lstStyle/>
            <a:p>
              <a:pPr algn="ctr">
                <a:lnSpc>
                  <a:spcPts val="1439"/>
                </a:lnSpc>
              </a:pPr>
              <a:r>
                <a:rPr lang="en-US" sz="1599">
                  <a:solidFill>
                    <a:srgbClr val="FFFFFF"/>
                  </a:solidFill>
                  <a:latin typeface="Montserrat"/>
                  <a:ea typeface="Montserrat"/>
                  <a:cs typeface="Montserrat"/>
                  <a:sym typeface="Montserrat"/>
                </a:rPr>
                <a:t>4</a:t>
              </a:r>
            </a:p>
          </p:txBody>
        </p:sp>
      </p:grpSp>
      <p:sp>
        <p:nvSpPr>
          <p:cNvPr name="TextBox 21" id="21"/>
          <p:cNvSpPr txBox="true"/>
          <p:nvPr/>
        </p:nvSpPr>
        <p:spPr>
          <a:xfrm rot="0">
            <a:off x="1262956" y="836295"/>
            <a:ext cx="6468105" cy="531495"/>
          </a:xfrm>
          <a:prstGeom prst="rect">
            <a:avLst/>
          </a:prstGeom>
        </p:spPr>
        <p:txBody>
          <a:bodyPr anchor="t" rtlCol="false" tIns="0" lIns="0" bIns="0" rIns="0">
            <a:spAutoFit/>
          </a:bodyPr>
          <a:lstStyle/>
          <a:p>
            <a:pPr algn="l" marL="0" indent="0" lvl="0">
              <a:lnSpc>
                <a:spcPts val="3780"/>
              </a:lnSpc>
            </a:pPr>
            <a:r>
              <a:rPr lang="en-US" sz="4200">
                <a:solidFill>
                  <a:srgbClr val="1F3685"/>
                </a:solidFill>
                <a:latin typeface="Archivo Black"/>
                <a:ea typeface="Archivo Black"/>
                <a:cs typeface="Archivo Black"/>
                <a:sym typeface="Archivo Black"/>
              </a:rPr>
              <a:t>DATASET</a:t>
            </a:r>
          </a:p>
        </p:txBody>
      </p:sp>
      <p:sp>
        <p:nvSpPr>
          <p:cNvPr name="TextBox 22" id="22"/>
          <p:cNvSpPr txBox="true"/>
          <p:nvPr/>
        </p:nvSpPr>
        <p:spPr>
          <a:xfrm rot="0">
            <a:off x="1933843" y="3268986"/>
            <a:ext cx="2753961" cy="452754"/>
          </a:xfrm>
          <a:prstGeom prst="rect">
            <a:avLst/>
          </a:prstGeom>
        </p:spPr>
        <p:txBody>
          <a:bodyPr anchor="t" rtlCol="false" tIns="0" lIns="0" bIns="0" rIns="0">
            <a:spAutoFit/>
          </a:bodyPr>
          <a:lstStyle/>
          <a:p>
            <a:pPr algn="l">
              <a:lnSpc>
                <a:spcPts val="1820"/>
              </a:lnSpc>
            </a:pPr>
            <a:r>
              <a:rPr lang="en-US" sz="1300">
                <a:solidFill>
                  <a:srgbClr val="000000"/>
                </a:solidFill>
                <a:latin typeface="Montserrat"/>
                <a:ea typeface="Montserrat"/>
                <a:cs typeface="Montserrat"/>
                <a:sym typeface="Montserrat"/>
              </a:rPr>
              <a:t>Source : Kaggle (données publiques)</a:t>
            </a:r>
          </a:p>
        </p:txBody>
      </p:sp>
      <p:sp>
        <p:nvSpPr>
          <p:cNvPr name="TextBox 23" id="23"/>
          <p:cNvSpPr txBox="true"/>
          <p:nvPr/>
        </p:nvSpPr>
        <p:spPr>
          <a:xfrm rot="0">
            <a:off x="1933843" y="3835599"/>
            <a:ext cx="2753961" cy="452754"/>
          </a:xfrm>
          <a:prstGeom prst="rect">
            <a:avLst/>
          </a:prstGeom>
        </p:spPr>
        <p:txBody>
          <a:bodyPr anchor="t" rtlCol="false" tIns="0" lIns="0" bIns="0" rIns="0">
            <a:spAutoFit/>
          </a:bodyPr>
          <a:lstStyle/>
          <a:p>
            <a:pPr algn="l">
              <a:lnSpc>
                <a:spcPts val="1820"/>
              </a:lnSpc>
            </a:pPr>
            <a:r>
              <a:rPr lang="en-US" sz="1300">
                <a:solidFill>
                  <a:srgbClr val="000000"/>
                </a:solidFill>
                <a:latin typeface="Montserrat"/>
                <a:ea typeface="Montserrat"/>
                <a:cs typeface="Montserrat"/>
                <a:sym typeface="Montserrat"/>
              </a:rPr>
              <a:t>Domaine : consommation énergétique</a:t>
            </a:r>
          </a:p>
        </p:txBody>
      </p:sp>
      <p:sp>
        <p:nvSpPr>
          <p:cNvPr name="TextBox 24" id="24"/>
          <p:cNvSpPr txBox="true"/>
          <p:nvPr/>
        </p:nvSpPr>
        <p:spPr>
          <a:xfrm rot="0">
            <a:off x="5467272" y="3133285"/>
            <a:ext cx="3101418" cy="680127"/>
          </a:xfrm>
          <a:prstGeom prst="rect">
            <a:avLst/>
          </a:prstGeom>
        </p:spPr>
        <p:txBody>
          <a:bodyPr anchor="t" rtlCol="false" tIns="0" lIns="0" bIns="0" rIns="0">
            <a:spAutoFit/>
          </a:bodyPr>
          <a:lstStyle/>
          <a:p>
            <a:pPr algn="l">
              <a:lnSpc>
                <a:spcPts val="1540"/>
              </a:lnSpc>
            </a:pPr>
            <a:r>
              <a:rPr lang="en-US" sz="1100">
                <a:solidFill>
                  <a:srgbClr val="000000"/>
                </a:solidFill>
                <a:latin typeface="Montserrat"/>
                <a:ea typeface="Montserrat"/>
                <a:cs typeface="Montserrat"/>
                <a:sym typeface="Montserrat"/>
              </a:rPr>
              <a:t>Taille :</a:t>
            </a:r>
          </a:p>
          <a:p>
            <a:pPr algn="l" marL="237495" indent="-118748" lvl="1">
              <a:lnSpc>
                <a:spcPts val="1540"/>
              </a:lnSpc>
              <a:buFont typeface="Arial"/>
              <a:buChar char="•"/>
            </a:pPr>
            <a:r>
              <a:rPr lang="en-US" sz="1100">
                <a:solidFill>
                  <a:srgbClr val="000000"/>
                </a:solidFill>
                <a:latin typeface="Montserrat"/>
                <a:ea typeface="Montserrat"/>
                <a:cs typeface="Montserrat"/>
                <a:sym typeface="Montserrat"/>
              </a:rPr>
              <a:t>600 lignes</a:t>
            </a:r>
          </a:p>
          <a:p>
            <a:pPr algn="l" marL="237495" indent="-118748" lvl="1">
              <a:lnSpc>
                <a:spcPts val="1540"/>
              </a:lnSpc>
              <a:buFont typeface="Arial"/>
              <a:buChar char="•"/>
            </a:pPr>
            <a:r>
              <a:rPr lang="en-US" sz="1100">
                <a:solidFill>
                  <a:srgbClr val="000000"/>
                </a:solidFill>
                <a:latin typeface="Montserrat"/>
                <a:ea typeface="Montserrat"/>
                <a:cs typeface="Montserrat"/>
                <a:sym typeface="Montserrat"/>
              </a:rPr>
              <a:t>34 variables</a:t>
            </a:r>
          </a:p>
          <a:p>
            <a:pPr algn="l">
              <a:lnSpc>
                <a:spcPts val="840"/>
              </a:lnSpc>
            </a:pPr>
          </a:p>
        </p:txBody>
      </p:sp>
      <p:sp>
        <p:nvSpPr>
          <p:cNvPr name="TextBox 25" id="25"/>
          <p:cNvSpPr txBox="true"/>
          <p:nvPr/>
        </p:nvSpPr>
        <p:spPr>
          <a:xfrm rot="0">
            <a:off x="5527897" y="3835599"/>
            <a:ext cx="3101418" cy="762634"/>
          </a:xfrm>
          <a:prstGeom prst="rect">
            <a:avLst/>
          </a:prstGeom>
        </p:spPr>
        <p:txBody>
          <a:bodyPr anchor="t" rtlCol="false" tIns="0" lIns="0" bIns="0" rIns="0">
            <a:spAutoFit/>
          </a:bodyPr>
          <a:lstStyle/>
          <a:p>
            <a:pPr algn="l">
              <a:lnSpc>
                <a:spcPts val="1540"/>
              </a:lnSpc>
            </a:pPr>
            <a:r>
              <a:rPr lang="en-US" sz="1100">
                <a:solidFill>
                  <a:srgbClr val="000000"/>
                </a:solidFill>
                <a:latin typeface="Montserrat"/>
                <a:ea typeface="Montserrat"/>
                <a:cs typeface="Montserrat"/>
                <a:sym typeface="Montserrat"/>
              </a:rPr>
              <a:t>Variable cible :</a:t>
            </a:r>
          </a:p>
          <a:p>
            <a:pPr algn="l" marL="474994" indent="-158331" lvl="2">
              <a:lnSpc>
                <a:spcPts val="1540"/>
              </a:lnSpc>
              <a:buFont typeface="Arial"/>
              <a:buChar char="⚬"/>
            </a:pPr>
            <a:r>
              <a:rPr lang="en-US" sz="1100">
                <a:solidFill>
                  <a:srgbClr val="000000"/>
                </a:solidFill>
                <a:latin typeface="Montserrat"/>
                <a:ea typeface="Montserrat"/>
                <a:cs typeface="Montserrat"/>
                <a:sym typeface="Montserrat"/>
              </a:rPr>
              <a:t>consommation électrique totale moyenne (kW)</a:t>
            </a:r>
          </a:p>
          <a:p>
            <a:pPr algn="l">
              <a:lnSpc>
                <a:spcPts val="1540"/>
              </a:lnSpc>
            </a:pPr>
          </a:p>
        </p:txBody>
      </p:sp>
      <p:sp>
        <p:nvSpPr>
          <p:cNvPr name="TextBox 26" id="26"/>
          <p:cNvSpPr txBox="true"/>
          <p:nvPr/>
        </p:nvSpPr>
        <p:spPr>
          <a:xfrm rot="0">
            <a:off x="1262956" y="5137024"/>
            <a:ext cx="2703853" cy="251460"/>
          </a:xfrm>
          <a:prstGeom prst="rect">
            <a:avLst/>
          </a:prstGeom>
        </p:spPr>
        <p:txBody>
          <a:bodyPr anchor="t" rtlCol="false" tIns="0" lIns="0" bIns="0" rIns="0">
            <a:spAutoFit/>
          </a:bodyPr>
          <a:lstStyle/>
          <a:p>
            <a:pPr algn="l" marL="0" indent="0" lvl="0">
              <a:lnSpc>
                <a:spcPts val="1890"/>
              </a:lnSpc>
            </a:pPr>
            <a:r>
              <a:rPr lang="en-US" b="true" sz="2100">
                <a:solidFill>
                  <a:srgbClr val="1F3685"/>
                </a:solidFill>
                <a:latin typeface="Montserrat Bold"/>
                <a:ea typeface="Montserrat Bold"/>
                <a:cs typeface="Montserrat Bold"/>
                <a:sym typeface="Montserrat Bold"/>
              </a:rPr>
              <a:t>Data Sources:</a:t>
            </a:r>
          </a:p>
        </p:txBody>
      </p:sp>
      <p:grpSp>
        <p:nvGrpSpPr>
          <p:cNvPr name="Group 27" id="27"/>
          <p:cNvGrpSpPr/>
          <p:nvPr/>
        </p:nvGrpSpPr>
        <p:grpSpPr>
          <a:xfrm rot="0">
            <a:off x="1262956" y="5659208"/>
            <a:ext cx="2114878" cy="626959"/>
            <a:chOff x="0" y="0"/>
            <a:chExt cx="783288" cy="232207"/>
          </a:xfrm>
        </p:grpSpPr>
        <p:sp>
          <p:nvSpPr>
            <p:cNvPr name="Freeform 28" id="28"/>
            <p:cNvSpPr/>
            <p:nvPr/>
          </p:nvSpPr>
          <p:spPr>
            <a:xfrm flipH="false" flipV="false" rot="0">
              <a:off x="0" y="0"/>
              <a:ext cx="783288" cy="232207"/>
            </a:xfrm>
            <a:custGeom>
              <a:avLst/>
              <a:gdLst/>
              <a:ahLst/>
              <a:cxnLst/>
              <a:rect r="r" b="b" t="t" l="l"/>
              <a:pathLst>
                <a:path h="232207" w="783288">
                  <a:moveTo>
                    <a:pt x="116104" y="0"/>
                  </a:moveTo>
                  <a:lnTo>
                    <a:pt x="667185" y="0"/>
                  </a:lnTo>
                  <a:cubicBezTo>
                    <a:pt x="731307" y="0"/>
                    <a:pt x="783288" y="51981"/>
                    <a:pt x="783288" y="116104"/>
                  </a:cubicBezTo>
                  <a:lnTo>
                    <a:pt x="783288" y="116104"/>
                  </a:lnTo>
                  <a:cubicBezTo>
                    <a:pt x="783288" y="180226"/>
                    <a:pt x="731307" y="232207"/>
                    <a:pt x="667185" y="232207"/>
                  </a:cubicBezTo>
                  <a:lnTo>
                    <a:pt x="116104" y="232207"/>
                  </a:lnTo>
                  <a:cubicBezTo>
                    <a:pt x="51981" y="232207"/>
                    <a:pt x="0" y="180226"/>
                    <a:pt x="0" y="116104"/>
                  </a:cubicBezTo>
                  <a:lnTo>
                    <a:pt x="0" y="116104"/>
                  </a:lnTo>
                  <a:cubicBezTo>
                    <a:pt x="0" y="51981"/>
                    <a:pt x="51981" y="0"/>
                    <a:pt x="116104" y="0"/>
                  </a:cubicBezTo>
                  <a:close/>
                </a:path>
              </a:pathLst>
            </a:custGeom>
            <a:solidFill>
              <a:srgbClr val="2B4CC0"/>
            </a:solidFill>
          </p:spPr>
        </p:sp>
        <p:sp>
          <p:nvSpPr>
            <p:cNvPr name="TextBox 29" id="29"/>
            <p:cNvSpPr txBox="true"/>
            <p:nvPr/>
          </p:nvSpPr>
          <p:spPr>
            <a:xfrm>
              <a:off x="0" y="47625"/>
              <a:ext cx="783288" cy="184582"/>
            </a:xfrm>
            <a:prstGeom prst="rect">
              <a:avLst/>
            </a:prstGeom>
          </p:spPr>
          <p:txBody>
            <a:bodyPr anchor="ctr" rtlCol="false" tIns="50800" lIns="50800" bIns="50800" rIns="50800"/>
            <a:lstStyle/>
            <a:p>
              <a:pPr algn="ctr">
                <a:lnSpc>
                  <a:spcPts val="1620"/>
                </a:lnSpc>
              </a:pPr>
              <a:r>
                <a:rPr lang="en-US" sz="1800">
                  <a:solidFill>
                    <a:srgbClr val="FFFFFF"/>
                  </a:solidFill>
                  <a:latin typeface="Montserrat"/>
                  <a:ea typeface="Montserrat"/>
                  <a:cs typeface="Montserrat"/>
                  <a:sym typeface="Montserrat"/>
                </a:rPr>
                <a:t>KAGGLE</a:t>
              </a:r>
            </a:p>
          </p:txBody>
        </p:sp>
      </p:grpSp>
      <p:sp>
        <p:nvSpPr>
          <p:cNvPr name="Freeform 30" id="30"/>
          <p:cNvSpPr/>
          <p:nvPr/>
        </p:nvSpPr>
        <p:spPr>
          <a:xfrm flipH="false" flipV="false" rot="0">
            <a:off x="8115300" y="740199"/>
            <a:ext cx="906780" cy="906780"/>
          </a:xfrm>
          <a:custGeom>
            <a:avLst/>
            <a:gdLst/>
            <a:ahLst/>
            <a:cxnLst/>
            <a:rect r="r" b="b" t="t" l="l"/>
            <a:pathLst>
              <a:path h="906780" w="906780">
                <a:moveTo>
                  <a:pt x="0" y="0"/>
                </a:moveTo>
                <a:lnTo>
                  <a:pt x="906780" y="0"/>
                </a:lnTo>
                <a:lnTo>
                  <a:pt x="906780" y="906781"/>
                </a:lnTo>
                <a:lnTo>
                  <a:pt x="0" y="9067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31520" y="2226945"/>
            <a:ext cx="7806278" cy="1915530"/>
            <a:chOff x="0" y="0"/>
            <a:chExt cx="2891214" cy="709455"/>
          </a:xfrm>
        </p:grpSpPr>
        <p:sp>
          <p:nvSpPr>
            <p:cNvPr name="Freeform 3" id="3"/>
            <p:cNvSpPr/>
            <p:nvPr/>
          </p:nvSpPr>
          <p:spPr>
            <a:xfrm flipH="false" flipV="false" rot="0">
              <a:off x="0" y="0"/>
              <a:ext cx="2891214" cy="709455"/>
            </a:xfrm>
            <a:custGeom>
              <a:avLst/>
              <a:gdLst/>
              <a:ahLst/>
              <a:cxnLst/>
              <a:rect r="r" b="b" t="t" l="l"/>
              <a:pathLst>
                <a:path h="709455" w="2891214">
                  <a:moveTo>
                    <a:pt x="35703" y="0"/>
                  </a:moveTo>
                  <a:lnTo>
                    <a:pt x="2855511" y="0"/>
                  </a:lnTo>
                  <a:cubicBezTo>
                    <a:pt x="2864980" y="0"/>
                    <a:pt x="2874061" y="3762"/>
                    <a:pt x="2880757" y="10457"/>
                  </a:cubicBezTo>
                  <a:cubicBezTo>
                    <a:pt x="2887453" y="17153"/>
                    <a:pt x="2891214" y="26234"/>
                    <a:pt x="2891214" y="35703"/>
                  </a:cubicBezTo>
                  <a:lnTo>
                    <a:pt x="2891214" y="673752"/>
                  </a:lnTo>
                  <a:cubicBezTo>
                    <a:pt x="2891214" y="693471"/>
                    <a:pt x="2875229" y="709455"/>
                    <a:pt x="2855511" y="709455"/>
                  </a:cubicBezTo>
                  <a:lnTo>
                    <a:pt x="35703" y="709455"/>
                  </a:lnTo>
                  <a:cubicBezTo>
                    <a:pt x="15985" y="709455"/>
                    <a:pt x="0" y="693471"/>
                    <a:pt x="0" y="673752"/>
                  </a:cubicBezTo>
                  <a:lnTo>
                    <a:pt x="0" y="35703"/>
                  </a:lnTo>
                  <a:cubicBezTo>
                    <a:pt x="0" y="15985"/>
                    <a:pt x="15985" y="0"/>
                    <a:pt x="35703" y="0"/>
                  </a:cubicBezTo>
                  <a:close/>
                </a:path>
              </a:pathLst>
            </a:custGeom>
            <a:solidFill>
              <a:srgbClr val="2B4CC0"/>
            </a:solidFill>
          </p:spPr>
        </p:sp>
        <p:sp>
          <p:nvSpPr>
            <p:cNvPr name="TextBox 4" id="4"/>
            <p:cNvSpPr txBox="true"/>
            <p:nvPr/>
          </p:nvSpPr>
          <p:spPr>
            <a:xfrm>
              <a:off x="0" y="47625"/>
              <a:ext cx="2891214" cy="661830"/>
            </a:xfrm>
            <a:prstGeom prst="rect">
              <a:avLst/>
            </a:prstGeom>
          </p:spPr>
          <p:txBody>
            <a:bodyPr anchor="ctr" rtlCol="false" tIns="50800" lIns="50800" bIns="50800" rIns="50800"/>
            <a:lstStyle/>
            <a:p>
              <a:pPr algn="ctr">
                <a:lnSpc>
                  <a:spcPts val="1620"/>
                </a:lnSpc>
              </a:pPr>
            </a:p>
          </p:txBody>
        </p:sp>
      </p:grpSp>
      <p:sp>
        <p:nvSpPr>
          <p:cNvPr name="TextBox 5" id="5"/>
          <p:cNvSpPr txBox="true"/>
          <p:nvPr/>
        </p:nvSpPr>
        <p:spPr>
          <a:xfrm rot="0">
            <a:off x="1197577" y="836295"/>
            <a:ext cx="6761231" cy="1007745"/>
          </a:xfrm>
          <a:prstGeom prst="rect">
            <a:avLst/>
          </a:prstGeom>
        </p:spPr>
        <p:txBody>
          <a:bodyPr anchor="t" rtlCol="false" tIns="0" lIns="0" bIns="0" rIns="0">
            <a:spAutoFit/>
          </a:bodyPr>
          <a:lstStyle/>
          <a:p>
            <a:pPr algn="l" marL="0" indent="0" lvl="0">
              <a:lnSpc>
                <a:spcPts val="3780"/>
              </a:lnSpc>
            </a:pPr>
            <a:r>
              <a:rPr lang="en-US" sz="4200">
                <a:solidFill>
                  <a:srgbClr val="1F3685"/>
                </a:solidFill>
                <a:latin typeface="Archivo Black"/>
                <a:ea typeface="Archivo Black"/>
                <a:cs typeface="Archivo Black"/>
                <a:sym typeface="Archivo Black"/>
              </a:rPr>
              <a:t>PROBLÈMES IDENTIFIÉS</a:t>
            </a:r>
          </a:p>
        </p:txBody>
      </p:sp>
      <p:sp>
        <p:nvSpPr>
          <p:cNvPr name="TextBox 6" id="6"/>
          <p:cNvSpPr txBox="true"/>
          <p:nvPr/>
        </p:nvSpPr>
        <p:spPr>
          <a:xfrm rot="0">
            <a:off x="1197577" y="1975485"/>
            <a:ext cx="5415671" cy="251460"/>
          </a:xfrm>
          <a:prstGeom prst="rect">
            <a:avLst/>
          </a:prstGeom>
        </p:spPr>
        <p:txBody>
          <a:bodyPr anchor="t" rtlCol="false" tIns="0" lIns="0" bIns="0" rIns="0">
            <a:spAutoFit/>
          </a:bodyPr>
          <a:lstStyle/>
          <a:p>
            <a:pPr algn="l" marL="0" indent="0" lvl="0">
              <a:lnSpc>
                <a:spcPts val="1890"/>
              </a:lnSpc>
            </a:pPr>
            <a:r>
              <a:rPr lang="en-US" sz="2100">
                <a:solidFill>
                  <a:srgbClr val="000000"/>
                </a:solidFill>
                <a:latin typeface="Montserrat"/>
                <a:ea typeface="Montserrat"/>
                <a:cs typeface="Montserrat"/>
                <a:sym typeface="Montserrat"/>
              </a:rPr>
              <a:t>Problèmes</a:t>
            </a:r>
          </a:p>
        </p:txBody>
      </p:sp>
      <p:sp>
        <p:nvSpPr>
          <p:cNvPr name="TextBox 7" id="7"/>
          <p:cNvSpPr txBox="true"/>
          <p:nvPr/>
        </p:nvSpPr>
        <p:spPr>
          <a:xfrm rot="0">
            <a:off x="4211217" y="2428875"/>
            <a:ext cx="4154137" cy="681355"/>
          </a:xfrm>
          <a:prstGeom prst="rect">
            <a:avLst/>
          </a:prstGeom>
        </p:spPr>
        <p:txBody>
          <a:bodyPr anchor="t" rtlCol="false" tIns="0" lIns="0" bIns="0" rIns="0">
            <a:spAutoFit/>
          </a:bodyPr>
          <a:lstStyle/>
          <a:p>
            <a:pPr algn="l">
              <a:lnSpc>
                <a:spcPts val="1820"/>
              </a:lnSpc>
            </a:pPr>
            <a:r>
              <a:rPr lang="en-US" sz="1300">
                <a:solidFill>
                  <a:srgbClr val="FFFFFF"/>
                </a:solidFill>
                <a:latin typeface="Montserrat"/>
                <a:ea typeface="Montserrat"/>
                <a:cs typeface="Montserrat"/>
                <a:sym typeface="Montserrat"/>
              </a:rPr>
              <a:t>Une mauvaise anticipation entraîne :Co</a:t>
            </a:r>
            <a:r>
              <a:rPr lang="en-US" sz="1300">
                <a:solidFill>
                  <a:srgbClr val="FFFFFF"/>
                </a:solidFill>
                <a:latin typeface="Montserrat"/>
                <a:ea typeface="Montserrat"/>
                <a:cs typeface="Montserrat"/>
                <a:sym typeface="Montserrat"/>
              </a:rPr>
              <a:t>rrélations élevées entre certaines variables</a:t>
            </a:r>
          </a:p>
          <a:p>
            <a:pPr algn="l">
              <a:lnSpc>
                <a:spcPts val="1820"/>
              </a:lnSpc>
            </a:pPr>
          </a:p>
        </p:txBody>
      </p:sp>
      <p:sp>
        <p:nvSpPr>
          <p:cNvPr name="TextBox 8" id="8"/>
          <p:cNvSpPr txBox="true"/>
          <p:nvPr/>
        </p:nvSpPr>
        <p:spPr>
          <a:xfrm rot="0">
            <a:off x="1197577" y="3156135"/>
            <a:ext cx="2546915" cy="224155"/>
          </a:xfrm>
          <a:prstGeom prst="rect">
            <a:avLst/>
          </a:prstGeom>
        </p:spPr>
        <p:txBody>
          <a:bodyPr anchor="t" rtlCol="false" tIns="0" lIns="0" bIns="0" rIns="0">
            <a:spAutoFit/>
          </a:bodyPr>
          <a:lstStyle/>
          <a:p>
            <a:pPr algn="l">
              <a:lnSpc>
                <a:spcPts val="1820"/>
              </a:lnSpc>
            </a:pPr>
            <a:r>
              <a:rPr lang="en-US" sz="1300">
                <a:solidFill>
                  <a:srgbClr val="FFFFFF"/>
                </a:solidFill>
                <a:latin typeface="Montserrat"/>
                <a:ea typeface="Montserrat"/>
                <a:cs typeface="Montserrat"/>
                <a:sym typeface="Montserrat"/>
              </a:rPr>
              <a:t>Valeurs extrêmes (outliers)</a:t>
            </a:r>
          </a:p>
        </p:txBody>
      </p:sp>
      <p:sp>
        <p:nvSpPr>
          <p:cNvPr name="TextBox 9" id="9"/>
          <p:cNvSpPr txBox="true"/>
          <p:nvPr/>
        </p:nvSpPr>
        <p:spPr>
          <a:xfrm rot="0">
            <a:off x="1197577" y="2428875"/>
            <a:ext cx="2546915" cy="224155"/>
          </a:xfrm>
          <a:prstGeom prst="rect">
            <a:avLst/>
          </a:prstGeom>
        </p:spPr>
        <p:txBody>
          <a:bodyPr anchor="t" rtlCol="false" tIns="0" lIns="0" bIns="0" rIns="0">
            <a:spAutoFit/>
          </a:bodyPr>
          <a:lstStyle/>
          <a:p>
            <a:pPr algn="l">
              <a:lnSpc>
                <a:spcPts val="1820"/>
              </a:lnSpc>
            </a:pPr>
            <a:r>
              <a:rPr lang="en-US" sz="1300">
                <a:solidFill>
                  <a:srgbClr val="FFFFFF"/>
                </a:solidFill>
                <a:latin typeface="Montserrat"/>
                <a:ea typeface="Montserrat"/>
                <a:cs typeface="Montserrat"/>
                <a:sym typeface="Montserrat"/>
              </a:rPr>
              <a:t>Valeurs manquantes (NaN)</a:t>
            </a:r>
          </a:p>
        </p:txBody>
      </p:sp>
      <p:sp>
        <p:nvSpPr>
          <p:cNvPr name="Freeform 10" id="10"/>
          <p:cNvSpPr/>
          <p:nvPr/>
        </p:nvSpPr>
        <p:spPr>
          <a:xfrm flipH="false" flipV="false" rot="0">
            <a:off x="9178859" y="2886075"/>
            <a:ext cx="906780" cy="906780"/>
          </a:xfrm>
          <a:custGeom>
            <a:avLst/>
            <a:gdLst/>
            <a:ahLst/>
            <a:cxnLst/>
            <a:rect r="r" b="b" t="t" l="l"/>
            <a:pathLst>
              <a:path h="906780" w="906780">
                <a:moveTo>
                  <a:pt x="0" y="0"/>
                </a:moveTo>
                <a:lnTo>
                  <a:pt x="906781" y="0"/>
                </a:lnTo>
                <a:lnTo>
                  <a:pt x="906781" y="906780"/>
                </a:lnTo>
                <a:lnTo>
                  <a:pt x="0" y="906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623060" y="731520"/>
            <a:ext cx="2354580" cy="235458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13" id="13"/>
            <p:cNvSpPr txBox="true"/>
            <p:nvPr/>
          </p:nvSpPr>
          <p:spPr>
            <a:xfrm>
              <a:off x="76200" y="123825"/>
              <a:ext cx="660400" cy="612775"/>
            </a:xfrm>
            <a:prstGeom prst="rect">
              <a:avLst/>
            </a:prstGeom>
          </p:spPr>
          <p:txBody>
            <a:bodyPr anchor="ctr" rtlCol="false" tIns="50800" lIns="50800" bIns="50800" rIns="50800"/>
            <a:lstStyle/>
            <a:p>
              <a:pPr algn="ctr">
                <a:lnSpc>
                  <a:spcPts val="1620"/>
                </a:lnSpc>
              </a:pPr>
            </a:p>
          </p:txBody>
        </p:sp>
      </p:grpSp>
      <p:grpSp>
        <p:nvGrpSpPr>
          <p:cNvPr name="Group 14" id="14"/>
          <p:cNvGrpSpPr/>
          <p:nvPr/>
        </p:nvGrpSpPr>
        <p:grpSpPr>
          <a:xfrm rot="0">
            <a:off x="731520" y="4953958"/>
            <a:ext cx="7806278" cy="1908738"/>
            <a:chOff x="0" y="0"/>
            <a:chExt cx="2891214" cy="706940"/>
          </a:xfrm>
        </p:grpSpPr>
        <p:sp>
          <p:nvSpPr>
            <p:cNvPr name="Freeform 15" id="15"/>
            <p:cNvSpPr/>
            <p:nvPr/>
          </p:nvSpPr>
          <p:spPr>
            <a:xfrm flipH="false" flipV="false" rot="0">
              <a:off x="0" y="0"/>
              <a:ext cx="2891214" cy="706940"/>
            </a:xfrm>
            <a:custGeom>
              <a:avLst/>
              <a:gdLst/>
              <a:ahLst/>
              <a:cxnLst/>
              <a:rect r="r" b="b" t="t" l="l"/>
              <a:pathLst>
                <a:path h="706940" w="2891214">
                  <a:moveTo>
                    <a:pt x="35703" y="0"/>
                  </a:moveTo>
                  <a:lnTo>
                    <a:pt x="2855511" y="0"/>
                  </a:lnTo>
                  <a:cubicBezTo>
                    <a:pt x="2864980" y="0"/>
                    <a:pt x="2874061" y="3762"/>
                    <a:pt x="2880757" y="10457"/>
                  </a:cubicBezTo>
                  <a:cubicBezTo>
                    <a:pt x="2887453" y="17153"/>
                    <a:pt x="2891214" y="26234"/>
                    <a:pt x="2891214" y="35703"/>
                  </a:cubicBezTo>
                  <a:lnTo>
                    <a:pt x="2891214" y="671237"/>
                  </a:lnTo>
                  <a:cubicBezTo>
                    <a:pt x="2891214" y="690955"/>
                    <a:pt x="2875229" y="706940"/>
                    <a:pt x="2855511" y="706940"/>
                  </a:cubicBezTo>
                  <a:lnTo>
                    <a:pt x="35703" y="706940"/>
                  </a:lnTo>
                  <a:cubicBezTo>
                    <a:pt x="15985" y="706940"/>
                    <a:pt x="0" y="690955"/>
                    <a:pt x="0" y="671237"/>
                  </a:cubicBezTo>
                  <a:lnTo>
                    <a:pt x="0" y="35703"/>
                  </a:lnTo>
                  <a:cubicBezTo>
                    <a:pt x="0" y="15985"/>
                    <a:pt x="15985" y="0"/>
                    <a:pt x="35703" y="0"/>
                  </a:cubicBezTo>
                  <a:close/>
                </a:path>
              </a:pathLst>
            </a:custGeom>
            <a:solidFill>
              <a:srgbClr val="2B4CC0"/>
            </a:solidFill>
          </p:spPr>
        </p:sp>
        <p:sp>
          <p:nvSpPr>
            <p:cNvPr name="TextBox 16" id="16"/>
            <p:cNvSpPr txBox="true"/>
            <p:nvPr/>
          </p:nvSpPr>
          <p:spPr>
            <a:xfrm>
              <a:off x="0" y="47625"/>
              <a:ext cx="2891214" cy="659315"/>
            </a:xfrm>
            <a:prstGeom prst="rect">
              <a:avLst/>
            </a:prstGeom>
          </p:spPr>
          <p:txBody>
            <a:bodyPr anchor="ctr" rtlCol="false" tIns="50800" lIns="50800" bIns="50800" rIns="50800"/>
            <a:lstStyle/>
            <a:p>
              <a:pPr algn="ctr">
                <a:lnSpc>
                  <a:spcPts val="1620"/>
                </a:lnSpc>
              </a:pPr>
            </a:p>
          </p:txBody>
        </p:sp>
      </p:grpSp>
      <p:sp>
        <p:nvSpPr>
          <p:cNvPr name="TextBox 17" id="17"/>
          <p:cNvSpPr txBox="true"/>
          <p:nvPr/>
        </p:nvSpPr>
        <p:spPr>
          <a:xfrm rot="0">
            <a:off x="1197577" y="4485375"/>
            <a:ext cx="5415671" cy="251460"/>
          </a:xfrm>
          <a:prstGeom prst="rect">
            <a:avLst/>
          </a:prstGeom>
        </p:spPr>
        <p:txBody>
          <a:bodyPr anchor="t" rtlCol="false" tIns="0" lIns="0" bIns="0" rIns="0">
            <a:spAutoFit/>
          </a:bodyPr>
          <a:lstStyle/>
          <a:p>
            <a:pPr algn="l" marL="0" indent="0" lvl="0">
              <a:lnSpc>
                <a:spcPts val="1890"/>
              </a:lnSpc>
            </a:pPr>
            <a:r>
              <a:rPr lang="en-US" sz="2100">
                <a:solidFill>
                  <a:srgbClr val="000000"/>
                </a:solidFill>
                <a:latin typeface="Montserrat"/>
                <a:ea typeface="Montserrat"/>
                <a:cs typeface="Montserrat"/>
                <a:sym typeface="Montserrat"/>
              </a:rPr>
              <a:t>Solutions apportées</a:t>
            </a:r>
          </a:p>
        </p:txBody>
      </p:sp>
      <p:sp>
        <p:nvSpPr>
          <p:cNvPr name="TextBox 18" id="18"/>
          <p:cNvSpPr txBox="true"/>
          <p:nvPr/>
        </p:nvSpPr>
        <p:spPr>
          <a:xfrm rot="0">
            <a:off x="4578193" y="5317860"/>
            <a:ext cx="3158639" cy="224155"/>
          </a:xfrm>
          <a:prstGeom prst="rect">
            <a:avLst/>
          </a:prstGeom>
        </p:spPr>
        <p:txBody>
          <a:bodyPr anchor="t" rtlCol="false" tIns="0" lIns="0" bIns="0" rIns="0">
            <a:spAutoFit/>
          </a:bodyPr>
          <a:lstStyle/>
          <a:p>
            <a:pPr algn="l">
              <a:lnSpc>
                <a:spcPts val="1820"/>
              </a:lnSpc>
            </a:pPr>
            <a:r>
              <a:rPr lang="en-US" sz="1300">
                <a:solidFill>
                  <a:srgbClr val="FFFFFF"/>
                </a:solidFill>
                <a:latin typeface="Montserrat"/>
                <a:ea typeface="Montserrat"/>
                <a:cs typeface="Montserrat"/>
                <a:sym typeface="Montserrat"/>
              </a:rPr>
              <a:t>Nettoyage et sélection des variables</a:t>
            </a:r>
          </a:p>
        </p:txBody>
      </p:sp>
      <p:sp>
        <p:nvSpPr>
          <p:cNvPr name="TextBox 19" id="19"/>
          <p:cNvSpPr txBox="true"/>
          <p:nvPr/>
        </p:nvSpPr>
        <p:spPr>
          <a:xfrm rot="0">
            <a:off x="1197577" y="6018264"/>
            <a:ext cx="2546915" cy="224155"/>
          </a:xfrm>
          <a:prstGeom prst="rect">
            <a:avLst/>
          </a:prstGeom>
        </p:spPr>
        <p:txBody>
          <a:bodyPr anchor="t" rtlCol="false" tIns="0" lIns="0" bIns="0" rIns="0">
            <a:spAutoFit/>
          </a:bodyPr>
          <a:lstStyle/>
          <a:p>
            <a:pPr algn="l">
              <a:lnSpc>
                <a:spcPts val="1820"/>
              </a:lnSpc>
            </a:pPr>
            <a:r>
              <a:rPr lang="en-US" sz="1300">
                <a:solidFill>
                  <a:srgbClr val="FFFFFF"/>
                </a:solidFill>
                <a:latin typeface="Montserrat"/>
                <a:ea typeface="Montserrat"/>
                <a:cs typeface="Montserrat"/>
                <a:sym typeface="Montserrat"/>
              </a:rPr>
              <a:t>Traitement des outliers</a:t>
            </a:r>
          </a:p>
        </p:txBody>
      </p:sp>
      <p:sp>
        <p:nvSpPr>
          <p:cNvPr name="TextBox 20" id="20"/>
          <p:cNvSpPr txBox="true"/>
          <p:nvPr/>
        </p:nvSpPr>
        <p:spPr>
          <a:xfrm rot="0">
            <a:off x="1197577" y="5317860"/>
            <a:ext cx="2546915" cy="452755"/>
          </a:xfrm>
          <a:prstGeom prst="rect">
            <a:avLst/>
          </a:prstGeom>
        </p:spPr>
        <p:txBody>
          <a:bodyPr anchor="t" rtlCol="false" tIns="0" lIns="0" bIns="0" rIns="0">
            <a:spAutoFit/>
          </a:bodyPr>
          <a:lstStyle/>
          <a:p>
            <a:pPr algn="l">
              <a:lnSpc>
                <a:spcPts val="1820"/>
              </a:lnSpc>
            </a:pPr>
            <a:r>
              <a:rPr lang="en-US" sz="1300">
                <a:solidFill>
                  <a:srgbClr val="FFFFFF"/>
                </a:solidFill>
                <a:latin typeface="Montserrat"/>
                <a:ea typeface="Montserrat"/>
                <a:cs typeface="Montserrat"/>
                <a:sym typeface="Montserrat"/>
              </a:rPr>
              <a:t>Imputation des valeurs manquantes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5350717" y="3479423"/>
            <a:ext cx="7467828" cy="4941441"/>
          </a:xfrm>
          <a:custGeom>
            <a:avLst/>
            <a:gdLst/>
            <a:ahLst/>
            <a:cxnLst/>
            <a:rect r="r" b="b" t="t" l="l"/>
            <a:pathLst>
              <a:path h="4941441" w="7467828">
                <a:moveTo>
                  <a:pt x="7467828" y="0"/>
                </a:moveTo>
                <a:lnTo>
                  <a:pt x="0" y="0"/>
                </a:lnTo>
                <a:lnTo>
                  <a:pt x="0" y="4941441"/>
                </a:lnTo>
                <a:lnTo>
                  <a:pt x="7467828" y="4941441"/>
                </a:lnTo>
                <a:lnTo>
                  <a:pt x="7467828"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01548" y="2000250"/>
            <a:ext cx="8290560" cy="4583430"/>
            <a:chOff x="0" y="0"/>
            <a:chExt cx="3070578" cy="1697567"/>
          </a:xfrm>
        </p:grpSpPr>
        <p:sp>
          <p:nvSpPr>
            <p:cNvPr name="Freeform 4" id="4"/>
            <p:cNvSpPr/>
            <p:nvPr/>
          </p:nvSpPr>
          <p:spPr>
            <a:xfrm flipH="false" flipV="false" rot="0">
              <a:off x="0" y="0"/>
              <a:ext cx="3070578" cy="1697567"/>
            </a:xfrm>
            <a:custGeom>
              <a:avLst/>
              <a:gdLst/>
              <a:ahLst/>
              <a:cxnLst/>
              <a:rect r="r" b="b" t="t" l="l"/>
              <a:pathLst>
                <a:path h="1697567" w="3070578">
                  <a:moveTo>
                    <a:pt x="33618" y="0"/>
                  </a:moveTo>
                  <a:lnTo>
                    <a:pt x="3036960" y="0"/>
                  </a:lnTo>
                  <a:cubicBezTo>
                    <a:pt x="3045876" y="0"/>
                    <a:pt x="3054427" y="3542"/>
                    <a:pt x="3060731" y="9846"/>
                  </a:cubicBezTo>
                  <a:cubicBezTo>
                    <a:pt x="3067036" y="16151"/>
                    <a:pt x="3070578" y="24702"/>
                    <a:pt x="3070578" y="33618"/>
                  </a:cubicBezTo>
                  <a:lnTo>
                    <a:pt x="3070578" y="1663949"/>
                  </a:lnTo>
                  <a:cubicBezTo>
                    <a:pt x="3070578" y="1672865"/>
                    <a:pt x="3067036" y="1681416"/>
                    <a:pt x="3060731" y="1687720"/>
                  </a:cubicBezTo>
                  <a:cubicBezTo>
                    <a:pt x="3054427" y="1694025"/>
                    <a:pt x="3045876" y="1697567"/>
                    <a:pt x="3036960" y="1697567"/>
                  </a:cubicBezTo>
                  <a:lnTo>
                    <a:pt x="33618" y="1697567"/>
                  </a:lnTo>
                  <a:cubicBezTo>
                    <a:pt x="24702" y="1697567"/>
                    <a:pt x="16151" y="1694025"/>
                    <a:pt x="9846" y="1687720"/>
                  </a:cubicBezTo>
                  <a:cubicBezTo>
                    <a:pt x="3542" y="1681416"/>
                    <a:pt x="0" y="1672865"/>
                    <a:pt x="0" y="1663949"/>
                  </a:cubicBezTo>
                  <a:lnTo>
                    <a:pt x="0" y="33618"/>
                  </a:lnTo>
                  <a:cubicBezTo>
                    <a:pt x="0" y="24702"/>
                    <a:pt x="3542" y="16151"/>
                    <a:pt x="9846" y="9846"/>
                  </a:cubicBezTo>
                  <a:cubicBezTo>
                    <a:pt x="16151" y="3542"/>
                    <a:pt x="24702" y="0"/>
                    <a:pt x="33618" y="0"/>
                  </a:cubicBezTo>
                  <a:close/>
                </a:path>
              </a:pathLst>
            </a:custGeom>
            <a:solidFill>
              <a:srgbClr val="2B4CC0"/>
            </a:solidFill>
          </p:spPr>
        </p:sp>
        <p:sp>
          <p:nvSpPr>
            <p:cNvPr name="TextBox 5" id="5"/>
            <p:cNvSpPr txBox="true"/>
            <p:nvPr/>
          </p:nvSpPr>
          <p:spPr>
            <a:xfrm>
              <a:off x="0" y="47625"/>
              <a:ext cx="3070578" cy="1649942"/>
            </a:xfrm>
            <a:prstGeom prst="rect">
              <a:avLst/>
            </a:prstGeom>
          </p:spPr>
          <p:txBody>
            <a:bodyPr anchor="ctr" rtlCol="false" tIns="50800" lIns="50800" bIns="50800" rIns="50800"/>
            <a:lstStyle/>
            <a:p>
              <a:pPr algn="ctr">
                <a:lnSpc>
                  <a:spcPts val="1620"/>
                </a:lnSpc>
              </a:pPr>
            </a:p>
          </p:txBody>
        </p:sp>
      </p:grpSp>
      <p:sp>
        <p:nvSpPr>
          <p:cNvPr name="Freeform 6" id="6"/>
          <p:cNvSpPr/>
          <p:nvPr/>
        </p:nvSpPr>
        <p:spPr>
          <a:xfrm flipH="false" flipV="false" rot="0">
            <a:off x="-512907" y="1487343"/>
            <a:ext cx="1025814" cy="1025814"/>
          </a:xfrm>
          <a:custGeom>
            <a:avLst/>
            <a:gdLst/>
            <a:ahLst/>
            <a:cxnLst/>
            <a:rect r="r" b="b" t="t" l="l"/>
            <a:pathLst>
              <a:path h="1025814" w="1025814">
                <a:moveTo>
                  <a:pt x="0" y="0"/>
                </a:moveTo>
                <a:lnTo>
                  <a:pt x="1025814" y="0"/>
                </a:lnTo>
                <a:lnTo>
                  <a:pt x="1025814" y="1025814"/>
                </a:lnTo>
                <a:lnTo>
                  <a:pt x="0" y="10258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385748" y="2213686"/>
            <a:ext cx="4143587" cy="1892429"/>
          </a:xfrm>
          <a:custGeom>
            <a:avLst/>
            <a:gdLst/>
            <a:ahLst/>
            <a:cxnLst/>
            <a:rect r="r" b="b" t="t" l="l"/>
            <a:pathLst>
              <a:path h="1892429" w="4143587">
                <a:moveTo>
                  <a:pt x="0" y="0"/>
                </a:moveTo>
                <a:lnTo>
                  <a:pt x="4143587" y="0"/>
                </a:lnTo>
                <a:lnTo>
                  <a:pt x="4143587" y="1892428"/>
                </a:lnTo>
                <a:lnTo>
                  <a:pt x="0" y="1892428"/>
                </a:lnTo>
                <a:lnTo>
                  <a:pt x="0" y="0"/>
                </a:lnTo>
                <a:close/>
              </a:path>
            </a:pathLst>
          </a:custGeom>
          <a:blipFill>
            <a:blip r:embed="rId6"/>
            <a:stretch>
              <a:fillRect l="0" t="0" r="0" b="0"/>
            </a:stretch>
          </a:blipFill>
        </p:spPr>
      </p:sp>
      <p:sp>
        <p:nvSpPr>
          <p:cNvPr name="Freeform 8" id="8"/>
          <p:cNvSpPr/>
          <p:nvPr/>
        </p:nvSpPr>
        <p:spPr>
          <a:xfrm flipH="false" flipV="false" rot="0">
            <a:off x="4385748" y="4291965"/>
            <a:ext cx="4285036" cy="1919395"/>
          </a:xfrm>
          <a:custGeom>
            <a:avLst/>
            <a:gdLst/>
            <a:ahLst/>
            <a:cxnLst/>
            <a:rect r="r" b="b" t="t" l="l"/>
            <a:pathLst>
              <a:path h="1919395" w="4285036">
                <a:moveTo>
                  <a:pt x="0" y="0"/>
                </a:moveTo>
                <a:lnTo>
                  <a:pt x="4285037" y="0"/>
                </a:lnTo>
                <a:lnTo>
                  <a:pt x="4285037" y="1919395"/>
                </a:lnTo>
                <a:lnTo>
                  <a:pt x="0" y="1919395"/>
                </a:lnTo>
                <a:lnTo>
                  <a:pt x="0" y="0"/>
                </a:lnTo>
                <a:close/>
              </a:path>
            </a:pathLst>
          </a:custGeom>
          <a:blipFill>
            <a:blip r:embed="rId7"/>
            <a:stretch>
              <a:fillRect l="0" t="0" r="0" b="0"/>
            </a:stretch>
          </a:blipFill>
        </p:spPr>
      </p:sp>
      <p:sp>
        <p:nvSpPr>
          <p:cNvPr name="TextBox 9" id="9"/>
          <p:cNvSpPr txBox="true"/>
          <p:nvPr/>
        </p:nvSpPr>
        <p:spPr>
          <a:xfrm rot="0">
            <a:off x="961492" y="836295"/>
            <a:ext cx="7830616" cy="1007745"/>
          </a:xfrm>
          <a:prstGeom prst="rect">
            <a:avLst/>
          </a:prstGeom>
        </p:spPr>
        <p:txBody>
          <a:bodyPr anchor="t" rtlCol="false" tIns="0" lIns="0" bIns="0" rIns="0">
            <a:spAutoFit/>
          </a:bodyPr>
          <a:lstStyle/>
          <a:p>
            <a:pPr algn="ctr" marL="0" indent="0" lvl="0">
              <a:lnSpc>
                <a:spcPts val="3780"/>
              </a:lnSpc>
            </a:pPr>
            <a:r>
              <a:rPr lang="en-US" sz="4200">
                <a:solidFill>
                  <a:srgbClr val="1F3685"/>
                </a:solidFill>
                <a:latin typeface="Archivo Black"/>
                <a:ea typeface="Archivo Black"/>
                <a:cs typeface="Archivo Black"/>
                <a:sym typeface="Archivo Black"/>
              </a:rPr>
              <a:t>ANALYSE EXPLORATOIRE (EDA 1)</a:t>
            </a:r>
          </a:p>
        </p:txBody>
      </p:sp>
      <p:sp>
        <p:nvSpPr>
          <p:cNvPr name="TextBox 10" id="10"/>
          <p:cNvSpPr txBox="true"/>
          <p:nvPr/>
        </p:nvSpPr>
        <p:spPr>
          <a:xfrm rot="0">
            <a:off x="731520" y="2616835"/>
            <a:ext cx="3208168" cy="3168015"/>
          </a:xfrm>
          <a:prstGeom prst="rect">
            <a:avLst/>
          </a:prstGeom>
        </p:spPr>
        <p:txBody>
          <a:bodyPr anchor="t" rtlCol="false" tIns="0" lIns="0" bIns="0" rIns="0">
            <a:spAutoFit/>
          </a:bodyPr>
          <a:lstStyle/>
          <a:p>
            <a:pPr algn="l" marL="367031" indent="-183515" lvl="1">
              <a:lnSpc>
                <a:spcPts val="2380"/>
              </a:lnSpc>
              <a:buFont typeface="Arial"/>
              <a:buChar char="•"/>
            </a:pPr>
            <a:r>
              <a:rPr lang="en-US" sz="1700">
                <a:solidFill>
                  <a:srgbClr val="FFFFFF"/>
                </a:solidFill>
                <a:latin typeface="Montserrat"/>
                <a:ea typeface="Montserrat"/>
                <a:cs typeface="Montserrat"/>
                <a:sym typeface="Montserrat"/>
              </a:rPr>
              <a:t>Visualisation de la consommation dans le temps</a:t>
            </a:r>
          </a:p>
          <a:p>
            <a:pPr algn="l" marL="367031" indent="-183515" lvl="1">
              <a:lnSpc>
                <a:spcPts val="2380"/>
              </a:lnSpc>
              <a:buFont typeface="Arial"/>
              <a:buChar char="•"/>
            </a:pPr>
            <a:r>
              <a:rPr lang="en-US" sz="1700">
                <a:solidFill>
                  <a:srgbClr val="FFFFFF"/>
                </a:solidFill>
                <a:latin typeface="Montserrat"/>
                <a:ea typeface="Montserrat"/>
                <a:cs typeface="Montserrat"/>
                <a:sym typeface="Montserrat"/>
              </a:rPr>
              <a:t>Identification de tendances globales</a:t>
            </a:r>
          </a:p>
          <a:p>
            <a:pPr algn="l" marL="367031" indent="-183515" lvl="1">
              <a:lnSpc>
                <a:spcPts val="2380"/>
              </a:lnSpc>
              <a:buFont typeface="Arial"/>
              <a:buChar char="•"/>
            </a:pPr>
            <a:r>
              <a:rPr lang="en-US" sz="1700">
                <a:solidFill>
                  <a:srgbClr val="FFFFFF"/>
                </a:solidFill>
                <a:latin typeface="Montserrat"/>
                <a:ea typeface="Montserrat"/>
                <a:cs typeface="Montserrat"/>
                <a:sym typeface="Montserrat"/>
              </a:rPr>
              <a:t>Mise en évidence de variations saisonnières</a:t>
            </a:r>
          </a:p>
          <a:p>
            <a:pPr algn="l" marL="367031" indent="-183515" lvl="1">
              <a:lnSpc>
                <a:spcPts val="2380"/>
              </a:lnSpc>
              <a:buFont typeface="Arial"/>
              <a:buChar char="•"/>
            </a:pPr>
            <a:r>
              <a:rPr lang="en-US" sz="1700">
                <a:solidFill>
                  <a:srgbClr val="FFFFFF"/>
                </a:solidFill>
                <a:latin typeface="Montserrat"/>
                <a:ea typeface="Montserrat"/>
                <a:cs typeface="Montserrat"/>
                <a:sym typeface="Montserrat"/>
              </a:rPr>
              <a:t>Observation de pics de consommation</a:t>
            </a:r>
          </a:p>
          <a:p>
            <a:pPr algn="l">
              <a:lnSpc>
                <a:spcPts val="433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3281102"/>
            <a:ext cx="2992379" cy="2136458"/>
            <a:chOff x="0" y="0"/>
            <a:chExt cx="1097868" cy="783841"/>
          </a:xfrm>
        </p:grpSpPr>
        <p:sp>
          <p:nvSpPr>
            <p:cNvPr name="Freeform 3" id="3"/>
            <p:cNvSpPr/>
            <p:nvPr/>
          </p:nvSpPr>
          <p:spPr>
            <a:xfrm flipH="false" flipV="false" rot="0">
              <a:off x="0" y="0"/>
              <a:ext cx="1097868" cy="783841"/>
            </a:xfrm>
            <a:custGeom>
              <a:avLst/>
              <a:gdLst/>
              <a:ahLst/>
              <a:cxnLst/>
              <a:rect r="r" b="b" t="t" l="l"/>
              <a:pathLst>
                <a:path h="783841" w="1097868">
                  <a:moveTo>
                    <a:pt x="93140" y="0"/>
                  </a:moveTo>
                  <a:lnTo>
                    <a:pt x="1004728" y="0"/>
                  </a:lnTo>
                  <a:cubicBezTo>
                    <a:pt x="1056168" y="0"/>
                    <a:pt x="1097868" y="41700"/>
                    <a:pt x="1097868" y="93140"/>
                  </a:cubicBezTo>
                  <a:lnTo>
                    <a:pt x="1097868" y="690701"/>
                  </a:lnTo>
                  <a:cubicBezTo>
                    <a:pt x="1097868" y="742141"/>
                    <a:pt x="1056168" y="783841"/>
                    <a:pt x="1004728" y="783841"/>
                  </a:cubicBezTo>
                  <a:lnTo>
                    <a:pt x="93140" y="783841"/>
                  </a:lnTo>
                  <a:cubicBezTo>
                    <a:pt x="41700" y="783841"/>
                    <a:pt x="0" y="742141"/>
                    <a:pt x="0" y="690701"/>
                  </a:cubicBezTo>
                  <a:lnTo>
                    <a:pt x="0" y="93140"/>
                  </a:lnTo>
                  <a:cubicBezTo>
                    <a:pt x="0" y="41700"/>
                    <a:pt x="41700" y="0"/>
                    <a:pt x="93140" y="0"/>
                  </a:cubicBezTo>
                  <a:close/>
                </a:path>
              </a:pathLst>
            </a:custGeom>
            <a:solidFill>
              <a:srgbClr val="2B4CC0"/>
            </a:solidFill>
          </p:spPr>
        </p:sp>
        <p:sp>
          <p:nvSpPr>
            <p:cNvPr name="TextBox 4" id="4"/>
            <p:cNvSpPr txBox="true"/>
            <p:nvPr/>
          </p:nvSpPr>
          <p:spPr>
            <a:xfrm>
              <a:off x="0" y="47625"/>
              <a:ext cx="1097868" cy="736216"/>
            </a:xfrm>
            <a:prstGeom prst="rect">
              <a:avLst/>
            </a:prstGeom>
          </p:spPr>
          <p:txBody>
            <a:bodyPr anchor="ctr" rtlCol="false" tIns="50800" lIns="50800" bIns="50800" rIns="50800"/>
            <a:lstStyle/>
            <a:p>
              <a:pPr algn="ctr">
                <a:lnSpc>
                  <a:spcPts val="1620"/>
                </a:lnSpc>
              </a:pPr>
            </a:p>
          </p:txBody>
        </p:sp>
      </p:grpSp>
      <p:sp>
        <p:nvSpPr>
          <p:cNvPr name="Freeform 5" id="5"/>
          <p:cNvSpPr/>
          <p:nvPr/>
        </p:nvSpPr>
        <p:spPr>
          <a:xfrm flipH="false" flipV="false" rot="0">
            <a:off x="7071470" y="5808085"/>
            <a:ext cx="1950610" cy="1950610"/>
          </a:xfrm>
          <a:custGeom>
            <a:avLst/>
            <a:gdLst/>
            <a:ahLst/>
            <a:cxnLst/>
            <a:rect r="r" b="b" t="t" l="l"/>
            <a:pathLst>
              <a:path h="1950610" w="1950610">
                <a:moveTo>
                  <a:pt x="0" y="0"/>
                </a:moveTo>
                <a:lnTo>
                  <a:pt x="1950610" y="0"/>
                </a:lnTo>
                <a:lnTo>
                  <a:pt x="1950610" y="1950610"/>
                </a:lnTo>
                <a:lnTo>
                  <a:pt x="0" y="19506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245299" y="836295"/>
            <a:ext cx="7263001" cy="1007745"/>
          </a:xfrm>
          <a:prstGeom prst="rect">
            <a:avLst/>
          </a:prstGeom>
        </p:spPr>
        <p:txBody>
          <a:bodyPr anchor="t" rtlCol="false" tIns="0" lIns="0" bIns="0" rIns="0">
            <a:spAutoFit/>
          </a:bodyPr>
          <a:lstStyle/>
          <a:p>
            <a:pPr algn="ctr" marL="0" indent="0" lvl="0">
              <a:lnSpc>
                <a:spcPts val="3780"/>
              </a:lnSpc>
            </a:pPr>
            <a:r>
              <a:rPr lang="en-US" sz="4200">
                <a:solidFill>
                  <a:srgbClr val="1F3685"/>
                </a:solidFill>
                <a:latin typeface="Archivo Black"/>
                <a:ea typeface="Archivo Black"/>
                <a:cs typeface="Archivo Black"/>
                <a:sym typeface="Archivo Black"/>
              </a:rPr>
              <a:t>ANALYSE EXPLORATOIRE (EDA 2)</a:t>
            </a:r>
          </a:p>
        </p:txBody>
      </p:sp>
      <p:grpSp>
        <p:nvGrpSpPr>
          <p:cNvPr name="Group 7" id="7"/>
          <p:cNvGrpSpPr/>
          <p:nvPr/>
        </p:nvGrpSpPr>
        <p:grpSpPr>
          <a:xfrm rot="0">
            <a:off x="3177460" y="3263283"/>
            <a:ext cx="3398680" cy="2136458"/>
            <a:chOff x="0" y="0"/>
            <a:chExt cx="1246935" cy="783841"/>
          </a:xfrm>
        </p:grpSpPr>
        <p:sp>
          <p:nvSpPr>
            <p:cNvPr name="Freeform 8" id="8"/>
            <p:cNvSpPr/>
            <p:nvPr/>
          </p:nvSpPr>
          <p:spPr>
            <a:xfrm flipH="false" flipV="false" rot="0">
              <a:off x="0" y="0"/>
              <a:ext cx="1246935" cy="783841"/>
            </a:xfrm>
            <a:custGeom>
              <a:avLst/>
              <a:gdLst/>
              <a:ahLst/>
              <a:cxnLst/>
              <a:rect r="r" b="b" t="t" l="l"/>
              <a:pathLst>
                <a:path h="783841" w="1246935">
                  <a:moveTo>
                    <a:pt x="82005" y="0"/>
                  </a:moveTo>
                  <a:lnTo>
                    <a:pt x="1164930" y="0"/>
                  </a:lnTo>
                  <a:cubicBezTo>
                    <a:pt x="1186679" y="0"/>
                    <a:pt x="1207537" y="8640"/>
                    <a:pt x="1222916" y="24019"/>
                  </a:cubicBezTo>
                  <a:cubicBezTo>
                    <a:pt x="1238295" y="39398"/>
                    <a:pt x="1246935" y="60256"/>
                    <a:pt x="1246935" y="82005"/>
                  </a:cubicBezTo>
                  <a:lnTo>
                    <a:pt x="1246935" y="701836"/>
                  </a:lnTo>
                  <a:cubicBezTo>
                    <a:pt x="1246935" y="747126"/>
                    <a:pt x="1210220" y="783841"/>
                    <a:pt x="1164930" y="783841"/>
                  </a:cubicBezTo>
                  <a:lnTo>
                    <a:pt x="82005" y="783841"/>
                  </a:lnTo>
                  <a:cubicBezTo>
                    <a:pt x="60256" y="783841"/>
                    <a:pt x="39398" y="775201"/>
                    <a:pt x="24019" y="759822"/>
                  </a:cubicBezTo>
                  <a:cubicBezTo>
                    <a:pt x="8640" y="744443"/>
                    <a:pt x="0" y="723585"/>
                    <a:pt x="0" y="701836"/>
                  </a:cubicBezTo>
                  <a:lnTo>
                    <a:pt x="0" y="82005"/>
                  </a:lnTo>
                  <a:cubicBezTo>
                    <a:pt x="0" y="60256"/>
                    <a:pt x="8640" y="39398"/>
                    <a:pt x="24019" y="24019"/>
                  </a:cubicBezTo>
                  <a:cubicBezTo>
                    <a:pt x="39398" y="8640"/>
                    <a:pt x="60256" y="0"/>
                    <a:pt x="82005" y="0"/>
                  </a:cubicBezTo>
                  <a:close/>
                </a:path>
              </a:pathLst>
            </a:custGeom>
            <a:solidFill>
              <a:srgbClr val="2B4CC0"/>
            </a:solidFill>
          </p:spPr>
        </p:sp>
        <p:sp>
          <p:nvSpPr>
            <p:cNvPr name="TextBox 9" id="9"/>
            <p:cNvSpPr txBox="true"/>
            <p:nvPr/>
          </p:nvSpPr>
          <p:spPr>
            <a:xfrm>
              <a:off x="0" y="47625"/>
              <a:ext cx="1246935" cy="736216"/>
            </a:xfrm>
            <a:prstGeom prst="rect">
              <a:avLst/>
            </a:prstGeom>
          </p:spPr>
          <p:txBody>
            <a:bodyPr anchor="ctr" rtlCol="false" tIns="50800" lIns="50800" bIns="50800" rIns="50800"/>
            <a:lstStyle/>
            <a:p>
              <a:pPr algn="ctr">
                <a:lnSpc>
                  <a:spcPts val="1620"/>
                </a:lnSpc>
              </a:pPr>
            </a:p>
          </p:txBody>
        </p:sp>
      </p:grpSp>
      <p:grpSp>
        <p:nvGrpSpPr>
          <p:cNvPr name="Group 10" id="10"/>
          <p:cNvGrpSpPr/>
          <p:nvPr/>
        </p:nvGrpSpPr>
        <p:grpSpPr>
          <a:xfrm rot="0">
            <a:off x="6647758" y="3245464"/>
            <a:ext cx="3067635" cy="2136458"/>
            <a:chOff x="0" y="0"/>
            <a:chExt cx="1125478" cy="783841"/>
          </a:xfrm>
        </p:grpSpPr>
        <p:sp>
          <p:nvSpPr>
            <p:cNvPr name="Freeform 11" id="11"/>
            <p:cNvSpPr/>
            <p:nvPr/>
          </p:nvSpPr>
          <p:spPr>
            <a:xfrm flipH="false" flipV="false" rot="0">
              <a:off x="0" y="0"/>
              <a:ext cx="1125478" cy="783841"/>
            </a:xfrm>
            <a:custGeom>
              <a:avLst/>
              <a:gdLst/>
              <a:ahLst/>
              <a:cxnLst/>
              <a:rect r="r" b="b" t="t" l="l"/>
              <a:pathLst>
                <a:path h="783841" w="1125478">
                  <a:moveTo>
                    <a:pt x="90855" y="0"/>
                  </a:moveTo>
                  <a:lnTo>
                    <a:pt x="1034624" y="0"/>
                  </a:lnTo>
                  <a:cubicBezTo>
                    <a:pt x="1058720" y="0"/>
                    <a:pt x="1081829" y="9572"/>
                    <a:pt x="1098868" y="26611"/>
                  </a:cubicBezTo>
                  <a:cubicBezTo>
                    <a:pt x="1115906" y="43649"/>
                    <a:pt x="1125478" y="66759"/>
                    <a:pt x="1125478" y="90855"/>
                  </a:cubicBezTo>
                  <a:lnTo>
                    <a:pt x="1125478" y="692986"/>
                  </a:lnTo>
                  <a:cubicBezTo>
                    <a:pt x="1125478" y="717082"/>
                    <a:pt x="1115906" y="740191"/>
                    <a:pt x="1098868" y="757230"/>
                  </a:cubicBezTo>
                  <a:cubicBezTo>
                    <a:pt x="1081829" y="774269"/>
                    <a:pt x="1058720" y="783841"/>
                    <a:pt x="1034624" y="783841"/>
                  </a:cubicBezTo>
                  <a:lnTo>
                    <a:pt x="90855" y="783841"/>
                  </a:lnTo>
                  <a:cubicBezTo>
                    <a:pt x="66759" y="783841"/>
                    <a:pt x="43649" y="774269"/>
                    <a:pt x="26611" y="757230"/>
                  </a:cubicBezTo>
                  <a:cubicBezTo>
                    <a:pt x="9572" y="740191"/>
                    <a:pt x="0" y="717082"/>
                    <a:pt x="0" y="692986"/>
                  </a:cubicBezTo>
                  <a:lnTo>
                    <a:pt x="0" y="90855"/>
                  </a:lnTo>
                  <a:cubicBezTo>
                    <a:pt x="0" y="66759"/>
                    <a:pt x="9572" y="43649"/>
                    <a:pt x="26611" y="26611"/>
                  </a:cubicBezTo>
                  <a:cubicBezTo>
                    <a:pt x="43649" y="9572"/>
                    <a:pt x="66759" y="0"/>
                    <a:pt x="90855" y="0"/>
                  </a:cubicBezTo>
                  <a:close/>
                </a:path>
              </a:pathLst>
            </a:custGeom>
            <a:solidFill>
              <a:srgbClr val="2B4CC0"/>
            </a:solidFill>
          </p:spPr>
        </p:sp>
        <p:sp>
          <p:nvSpPr>
            <p:cNvPr name="TextBox 12" id="12"/>
            <p:cNvSpPr txBox="true"/>
            <p:nvPr/>
          </p:nvSpPr>
          <p:spPr>
            <a:xfrm>
              <a:off x="0" y="47625"/>
              <a:ext cx="1125478" cy="736216"/>
            </a:xfrm>
            <a:prstGeom prst="rect">
              <a:avLst/>
            </a:prstGeom>
          </p:spPr>
          <p:txBody>
            <a:bodyPr anchor="ctr" rtlCol="false" tIns="50800" lIns="50800" bIns="50800" rIns="50800"/>
            <a:lstStyle/>
            <a:p>
              <a:pPr algn="ctr">
                <a:lnSpc>
                  <a:spcPts val="1620"/>
                </a:lnSpc>
              </a:pPr>
            </a:p>
          </p:txBody>
        </p:sp>
      </p:grpSp>
      <p:grpSp>
        <p:nvGrpSpPr>
          <p:cNvPr name="Group 13" id="13"/>
          <p:cNvGrpSpPr/>
          <p:nvPr/>
        </p:nvGrpSpPr>
        <p:grpSpPr>
          <a:xfrm rot="0">
            <a:off x="-501207" y="6895791"/>
            <a:ext cx="10844387" cy="922419"/>
            <a:chOff x="0" y="0"/>
            <a:chExt cx="4016440" cy="341637"/>
          </a:xfrm>
        </p:grpSpPr>
        <p:sp>
          <p:nvSpPr>
            <p:cNvPr name="Freeform 14" id="14"/>
            <p:cNvSpPr/>
            <p:nvPr/>
          </p:nvSpPr>
          <p:spPr>
            <a:xfrm flipH="false" flipV="false" rot="0">
              <a:off x="0" y="0"/>
              <a:ext cx="4016440" cy="341637"/>
            </a:xfrm>
            <a:custGeom>
              <a:avLst/>
              <a:gdLst/>
              <a:ahLst/>
              <a:cxnLst/>
              <a:rect r="r" b="b" t="t" l="l"/>
              <a:pathLst>
                <a:path h="341637" w="4016440">
                  <a:moveTo>
                    <a:pt x="25701" y="0"/>
                  </a:moveTo>
                  <a:lnTo>
                    <a:pt x="3990739" y="0"/>
                  </a:lnTo>
                  <a:cubicBezTo>
                    <a:pt x="3997555" y="0"/>
                    <a:pt x="4004092" y="2708"/>
                    <a:pt x="4008912" y="7528"/>
                  </a:cubicBezTo>
                  <a:cubicBezTo>
                    <a:pt x="4013732" y="12347"/>
                    <a:pt x="4016440" y="18885"/>
                    <a:pt x="4016440" y="25701"/>
                  </a:cubicBezTo>
                  <a:lnTo>
                    <a:pt x="4016440" y="315936"/>
                  </a:lnTo>
                  <a:cubicBezTo>
                    <a:pt x="4016440" y="322752"/>
                    <a:pt x="4013732" y="329289"/>
                    <a:pt x="4008912" y="334109"/>
                  </a:cubicBezTo>
                  <a:cubicBezTo>
                    <a:pt x="4004092" y="338929"/>
                    <a:pt x="3997555" y="341637"/>
                    <a:pt x="3990739" y="341637"/>
                  </a:cubicBezTo>
                  <a:lnTo>
                    <a:pt x="25701" y="341637"/>
                  </a:lnTo>
                  <a:cubicBezTo>
                    <a:pt x="18885" y="341637"/>
                    <a:pt x="12347" y="338929"/>
                    <a:pt x="7528" y="334109"/>
                  </a:cubicBezTo>
                  <a:cubicBezTo>
                    <a:pt x="2708" y="329289"/>
                    <a:pt x="0" y="322752"/>
                    <a:pt x="0" y="315936"/>
                  </a:cubicBezTo>
                  <a:lnTo>
                    <a:pt x="0" y="25701"/>
                  </a:lnTo>
                  <a:cubicBezTo>
                    <a:pt x="0" y="18885"/>
                    <a:pt x="2708" y="12347"/>
                    <a:pt x="7528" y="7528"/>
                  </a:cubicBezTo>
                  <a:cubicBezTo>
                    <a:pt x="12347" y="2708"/>
                    <a:pt x="18885" y="0"/>
                    <a:pt x="25701" y="0"/>
                  </a:cubicBezTo>
                  <a:close/>
                </a:path>
              </a:pathLst>
            </a:custGeom>
            <a:solidFill>
              <a:srgbClr val="2B4CC0"/>
            </a:solidFill>
          </p:spPr>
        </p:sp>
        <p:sp>
          <p:nvSpPr>
            <p:cNvPr name="TextBox 15" id="15"/>
            <p:cNvSpPr txBox="true"/>
            <p:nvPr/>
          </p:nvSpPr>
          <p:spPr>
            <a:xfrm>
              <a:off x="0" y="47625"/>
              <a:ext cx="4016440" cy="294012"/>
            </a:xfrm>
            <a:prstGeom prst="rect">
              <a:avLst/>
            </a:prstGeom>
          </p:spPr>
          <p:txBody>
            <a:bodyPr anchor="ctr" rtlCol="false" tIns="50800" lIns="50800" bIns="50800" rIns="50800"/>
            <a:lstStyle/>
            <a:p>
              <a:pPr algn="ctr">
                <a:lnSpc>
                  <a:spcPts val="1620"/>
                </a:lnSpc>
              </a:pPr>
            </a:p>
          </p:txBody>
        </p:sp>
      </p:grpSp>
      <p:grpSp>
        <p:nvGrpSpPr>
          <p:cNvPr name="Group 16" id="16"/>
          <p:cNvGrpSpPr/>
          <p:nvPr/>
        </p:nvGrpSpPr>
        <p:grpSpPr>
          <a:xfrm rot="0">
            <a:off x="-490107" y="-447626"/>
            <a:ext cx="1735406" cy="17354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18" id="18"/>
            <p:cNvSpPr txBox="true"/>
            <p:nvPr/>
          </p:nvSpPr>
          <p:spPr>
            <a:xfrm>
              <a:off x="76200" y="123825"/>
              <a:ext cx="660400" cy="612775"/>
            </a:xfrm>
            <a:prstGeom prst="rect">
              <a:avLst/>
            </a:prstGeom>
          </p:spPr>
          <p:txBody>
            <a:bodyPr anchor="ctr" rtlCol="false" tIns="50800" lIns="50800" bIns="50800" rIns="50800"/>
            <a:lstStyle/>
            <a:p>
              <a:pPr algn="ctr">
                <a:lnSpc>
                  <a:spcPts val="1620"/>
                </a:lnSpc>
              </a:pPr>
            </a:p>
          </p:txBody>
        </p:sp>
      </p:grpSp>
      <p:sp>
        <p:nvSpPr>
          <p:cNvPr name="Freeform 19" id="19"/>
          <p:cNvSpPr/>
          <p:nvPr/>
        </p:nvSpPr>
        <p:spPr>
          <a:xfrm flipH="false" flipV="false" rot="0">
            <a:off x="-446445" y="5808085"/>
            <a:ext cx="892890" cy="892890"/>
          </a:xfrm>
          <a:custGeom>
            <a:avLst/>
            <a:gdLst/>
            <a:ahLst/>
            <a:cxnLst/>
            <a:rect r="r" b="b" t="t" l="l"/>
            <a:pathLst>
              <a:path h="892890" w="892890">
                <a:moveTo>
                  <a:pt x="0" y="0"/>
                </a:moveTo>
                <a:lnTo>
                  <a:pt x="892890" y="0"/>
                </a:lnTo>
                <a:lnTo>
                  <a:pt x="892890" y="892890"/>
                </a:lnTo>
                <a:lnTo>
                  <a:pt x="0" y="892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0">
            <a:off x="9022080" y="1083896"/>
            <a:ext cx="1735406" cy="173540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22" id="22"/>
            <p:cNvSpPr txBox="true"/>
            <p:nvPr/>
          </p:nvSpPr>
          <p:spPr>
            <a:xfrm>
              <a:off x="76200" y="123825"/>
              <a:ext cx="660400" cy="612775"/>
            </a:xfrm>
            <a:prstGeom prst="rect">
              <a:avLst/>
            </a:prstGeom>
          </p:spPr>
          <p:txBody>
            <a:bodyPr anchor="ctr" rtlCol="false" tIns="50800" lIns="50800" bIns="50800" rIns="50800"/>
            <a:lstStyle/>
            <a:p>
              <a:pPr algn="ctr">
                <a:lnSpc>
                  <a:spcPts val="1620"/>
                </a:lnSpc>
              </a:pPr>
            </a:p>
          </p:txBody>
        </p:sp>
      </p:grpSp>
      <p:sp>
        <p:nvSpPr>
          <p:cNvPr name="Freeform 23" id="23"/>
          <p:cNvSpPr/>
          <p:nvPr/>
        </p:nvSpPr>
        <p:spPr>
          <a:xfrm flipH="false" flipV="false" rot="0">
            <a:off x="93665" y="3463634"/>
            <a:ext cx="2692907" cy="1790783"/>
          </a:xfrm>
          <a:custGeom>
            <a:avLst/>
            <a:gdLst/>
            <a:ahLst/>
            <a:cxnLst/>
            <a:rect r="r" b="b" t="t" l="l"/>
            <a:pathLst>
              <a:path h="1790783" w="2692907">
                <a:moveTo>
                  <a:pt x="0" y="0"/>
                </a:moveTo>
                <a:lnTo>
                  <a:pt x="2692907" y="0"/>
                </a:lnTo>
                <a:lnTo>
                  <a:pt x="2692907" y="1790783"/>
                </a:lnTo>
                <a:lnTo>
                  <a:pt x="0" y="1790783"/>
                </a:lnTo>
                <a:lnTo>
                  <a:pt x="0" y="0"/>
                </a:lnTo>
                <a:close/>
              </a:path>
            </a:pathLst>
          </a:custGeom>
          <a:blipFill>
            <a:blip r:embed="rId6"/>
            <a:stretch>
              <a:fillRect l="0" t="0" r="0" b="0"/>
            </a:stretch>
          </a:blipFill>
        </p:spPr>
      </p:sp>
      <p:sp>
        <p:nvSpPr>
          <p:cNvPr name="Freeform 24" id="24"/>
          <p:cNvSpPr/>
          <p:nvPr/>
        </p:nvSpPr>
        <p:spPr>
          <a:xfrm flipH="false" flipV="false" rot="0">
            <a:off x="3358935" y="3429518"/>
            <a:ext cx="3124103" cy="1839626"/>
          </a:xfrm>
          <a:custGeom>
            <a:avLst/>
            <a:gdLst/>
            <a:ahLst/>
            <a:cxnLst/>
            <a:rect r="r" b="b" t="t" l="l"/>
            <a:pathLst>
              <a:path h="1839626" w="3124103">
                <a:moveTo>
                  <a:pt x="0" y="0"/>
                </a:moveTo>
                <a:lnTo>
                  <a:pt x="3124104" y="0"/>
                </a:lnTo>
                <a:lnTo>
                  <a:pt x="3124104" y="1839626"/>
                </a:lnTo>
                <a:lnTo>
                  <a:pt x="0" y="1839626"/>
                </a:lnTo>
                <a:lnTo>
                  <a:pt x="0" y="0"/>
                </a:lnTo>
                <a:close/>
              </a:path>
            </a:pathLst>
          </a:custGeom>
          <a:blipFill>
            <a:blip r:embed="rId7"/>
            <a:stretch>
              <a:fillRect l="0" t="-41996" r="0" b="-27826"/>
            </a:stretch>
          </a:blipFill>
        </p:spPr>
      </p:sp>
      <p:sp>
        <p:nvSpPr>
          <p:cNvPr name="Freeform 25" id="25"/>
          <p:cNvSpPr/>
          <p:nvPr/>
        </p:nvSpPr>
        <p:spPr>
          <a:xfrm flipH="false" flipV="false" rot="0">
            <a:off x="6828733" y="3281102"/>
            <a:ext cx="2737021" cy="2100820"/>
          </a:xfrm>
          <a:custGeom>
            <a:avLst/>
            <a:gdLst/>
            <a:ahLst/>
            <a:cxnLst/>
            <a:rect r="r" b="b" t="t" l="l"/>
            <a:pathLst>
              <a:path h="2100820" w="2737021">
                <a:moveTo>
                  <a:pt x="0" y="0"/>
                </a:moveTo>
                <a:lnTo>
                  <a:pt x="2737021" y="0"/>
                </a:lnTo>
                <a:lnTo>
                  <a:pt x="2737021" y="2100820"/>
                </a:lnTo>
                <a:lnTo>
                  <a:pt x="0" y="2100820"/>
                </a:lnTo>
                <a:lnTo>
                  <a:pt x="0" y="0"/>
                </a:lnTo>
                <a:close/>
              </a:path>
            </a:pathLst>
          </a:custGeom>
          <a:blipFill>
            <a:blip r:embed="rId8"/>
            <a:stretch>
              <a:fillRect l="0" t="-9360" r="0" b="-9360"/>
            </a:stretch>
          </a:blipFill>
        </p:spPr>
      </p:sp>
      <p:sp>
        <p:nvSpPr>
          <p:cNvPr name="TextBox 26" id="26"/>
          <p:cNvSpPr txBox="true"/>
          <p:nvPr/>
        </p:nvSpPr>
        <p:spPr>
          <a:xfrm rot="0">
            <a:off x="1231996" y="5662570"/>
            <a:ext cx="6814779" cy="1120820"/>
          </a:xfrm>
          <a:prstGeom prst="rect">
            <a:avLst/>
          </a:prstGeom>
        </p:spPr>
        <p:txBody>
          <a:bodyPr anchor="t" rtlCol="false" tIns="0" lIns="0" bIns="0" rIns="0">
            <a:spAutoFit/>
          </a:bodyPr>
          <a:lstStyle/>
          <a:p>
            <a:pPr algn="ctr" marL="269492" indent="-134746" lvl="1">
              <a:lnSpc>
                <a:spcPts val="1747"/>
              </a:lnSpc>
              <a:buFont typeface="Arial"/>
              <a:buChar char="•"/>
            </a:pPr>
            <a:r>
              <a:rPr lang="en-US" b="true" sz="1248">
                <a:solidFill>
                  <a:srgbClr val="000000"/>
                </a:solidFill>
                <a:latin typeface="Montserrat Bold"/>
                <a:ea typeface="Montserrat Bold"/>
                <a:cs typeface="Montserrat Bold"/>
                <a:sym typeface="Montserrat Bold"/>
              </a:rPr>
              <a:t>Analyse des distributions des variables</a:t>
            </a:r>
          </a:p>
          <a:p>
            <a:pPr algn="ctr" marL="269492" indent="-134746" lvl="1">
              <a:lnSpc>
                <a:spcPts val="1747"/>
              </a:lnSpc>
              <a:buFont typeface="Arial"/>
              <a:buChar char="•"/>
            </a:pPr>
            <a:r>
              <a:rPr lang="en-US" b="true" sz="1248">
                <a:solidFill>
                  <a:srgbClr val="000000"/>
                </a:solidFill>
                <a:latin typeface="Montserrat Bold"/>
                <a:ea typeface="Montserrat Bold"/>
                <a:cs typeface="Montserrat Bold"/>
                <a:sym typeface="Montserrat Bold"/>
              </a:rPr>
              <a:t>Détection des outliers via boxplots</a:t>
            </a:r>
          </a:p>
          <a:p>
            <a:pPr algn="ctr" marL="269492" indent="-134746" lvl="1">
              <a:lnSpc>
                <a:spcPts val="1747"/>
              </a:lnSpc>
              <a:buFont typeface="Arial"/>
              <a:buChar char="•"/>
            </a:pPr>
            <a:r>
              <a:rPr lang="en-US" b="true" sz="1248">
                <a:solidFill>
                  <a:srgbClr val="000000"/>
                </a:solidFill>
                <a:latin typeface="Montserrat Bold"/>
                <a:ea typeface="Montserrat Bold"/>
                <a:cs typeface="Montserrat Bold"/>
                <a:sym typeface="Montserrat Bold"/>
              </a:rPr>
              <a:t>Étude des corrélations entre variables</a:t>
            </a:r>
          </a:p>
          <a:p>
            <a:pPr algn="ctr" marL="312671" indent="-156335" lvl="1">
              <a:lnSpc>
                <a:spcPts val="2027"/>
              </a:lnSpc>
              <a:buFont typeface="Arial"/>
              <a:buChar char="•"/>
            </a:pPr>
            <a:r>
              <a:rPr lang="en-US" b="true" sz="1448">
                <a:solidFill>
                  <a:srgbClr val="000000"/>
                </a:solidFill>
                <a:latin typeface="Montserrat Bold"/>
                <a:ea typeface="Montserrat Bold"/>
                <a:cs typeface="Montserrat Bold"/>
                <a:sym typeface="Montserrat Bold"/>
              </a:rPr>
              <a:t>Relations fortes avec la variable cible</a:t>
            </a:r>
          </a:p>
          <a:p>
            <a:pPr algn="ctr">
              <a:lnSpc>
                <a:spcPts val="1747"/>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998730" y="4671689"/>
            <a:ext cx="4169090" cy="834210"/>
          </a:xfrm>
          <a:custGeom>
            <a:avLst/>
            <a:gdLst/>
            <a:ahLst/>
            <a:cxnLst/>
            <a:rect r="r" b="b" t="t" l="l"/>
            <a:pathLst>
              <a:path h="834210" w="4169090">
                <a:moveTo>
                  <a:pt x="0" y="0"/>
                </a:moveTo>
                <a:lnTo>
                  <a:pt x="4169090" y="0"/>
                </a:lnTo>
                <a:lnTo>
                  <a:pt x="4169090" y="834210"/>
                </a:lnTo>
                <a:lnTo>
                  <a:pt x="0" y="834210"/>
                </a:lnTo>
                <a:lnTo>
                  <a:pt x="0" y="0"/>
                </a:lnTo>
                <a:close/>
              </a:path>
            </a:pathLst>
          </a:custGeom>
          <a:blipFill>
            <a:blip r:embed="rId2">
              <a:extLst>
                <a:ext uri="{96DAC541-7B7A-43D3-8B79-37D633B846F1}">
                  <asvg:svgBlip xmlns:asvg="http://schemas.microsoft.com/office/drawing/2016/SVG/main" r:embed="rId3"/>
                </a:ext>
              </a:extLst>
            </a:blip>
            <a:stretch>
              <a:fillRect l="-66014" t="0" r="-67935" b="-276950"/>
            </a:stretch>
          </a:blipFill>
        </p:spPr>
      </p:sp>
      <p:sp>
        <p:nvSpPr>
          <p:cNvPr name="TextBox 3" id="3"/>
          <p:cNvSpPr txBox="true"/>
          <p:nvPr/>
        </p:nvSpPr>
        <p:spPr>
          <a:xfrm rot="0">
            <a:off x="1037419" y="977229"/>
            <a:ext cx="7678763" cy="531495"/>
          </a:xfrm>
          <a:prstGeom prst="rect">
            <a:avLst/>
          </a:prstGeom>
        </p:spPr>
        <p:txBody>
          <a:bodyPr anchor="t" rtlCol="false" tIns="0" lIns="0" bIns="0" rIns="0">
            <a:spAutoFit/>
          </a:bodyPr>
          <a:lstStyle/>
          <a:p>
            <a:pPr algn="ctr" marL="0" indent="0" lvl="0">
              <a:lnSpc>
                <a:spcPts val="3780"/>
              </a:lnSpc>
            </a:pPr>
            <a:r>
              <a:rPr lang="en-US" sz="4200">
                <a:solidFill>
                  <a:srgbClr val="1F3685"/>
                </a:solidFill>
                <a:latin typeface="Archivo Black"/>
                <a:ea typeface="Archivo Black"/>
                <a:cs typeface="Archivo Black"/>
                <a:sym typeface="Archivo Black"/>
              </a:rPr>
              <a:t>MÉTHODOLOGIE</a:t>
            </a:r>
          </a:p>
        </p:txBody>
      </p:sp>
      <p:sp>
        <p:nvSpPr>
          <p:cNvPr name="Freeform 4" id="4"/>
          <p:cNvSpPr/>
          <p:nvPr/>
        </p:nvSpPr>
        <p:spPr>
          <a:xfrm flipH="true" flipV="true" rot="5400000">
            <a:off x="7300925" y="660424"/>
            <a:ext cx="4303392" cy="861083"/>
          </a:xfrm>
          <a:custGeom>
            <a:avLst/>
            <a:gdLst/>
            <a:ahLst/>
            <a:cxnLst/>
            <a:rect r="r" b="b" t="t" l="l"/>
            <a:pathLst>
              <a:path h="861083" w="4303392">
                <a:moveTo>
                  <a:pt x="4303393" y="861083"/>
                </a:moveTo>
                <a:lnTo>
                  <a:pt x="0" y="861083"/>
                </a:lnTo>
                <a:lnTo>
                  <a:pt x="0" y="0"/>
                </a:lnTo>
                <a:lnTo>
                  <a:pt x="4303393" y="0"/>
                </a:lnTo>
                <a:lnTo>
                  <a:pt x="4303393" y="861083"/>
                </a:lnTo>
                <a:close/>
              </a:path>
            </a:pathLst>
          </a:custGeom>
          <a:blipFill>
            <a:blip r:embed="rId2">
              <a:extLst>
                <a:ext uri="{96DAC541-7B7A-43D3-8B79-37D633B846F1}">
                  <asvg:svgBlip xmlns:asvg="http://schemas.microsoft.com/office/drawing/2016/SVG/main" r:embed="rId3"/>
                </a:ext>
              </a:extLst>
            </a:blip>
            <a:stretch>
              <a:fillRect l="-66014" t="0" r="-67935" b="-276950"/>
            </a:stretch>
          </a:blipFill>
        </p:spPr>
      </p:sp>
      <p:sp>
        <p:nvSpPr>
          <p:cNvPr name="Freeform 5" id="5"/>
          <p:cNvSpPr/>
          <p:nvPr/>
        </p:nvSpPr>
        <p:spPr>
          <a:xfrm flipH="false" flipV="false" rot="0">
            <a:off x="7765847" y="5470098"/>
            <a:ext cx="823373" cy="823373"/>
          </a:xfrm>
          <a:custGeom>
            <a:avLst/>
            <a:gdLst/>
            <a:ahLst/>
            <a:cxnLst/>
            <a:rect r="r" b="b" t="t" l="l"/>
            <a:pathLst>
              <a:path h="823373" w="823373">
                <a:moveTo>
                  <a:pt x="0" y="0"/>
                </a:moveTo>
                <a:lnTo>
                  <a:pt x="823373" y="0"/>
                </a:lnTo>
                <a:lnTo>
                  <a:pt x="823373" y="823373"/>
                </a:lnTo>
                <a:lnTo>
                  <a:pt x="0" y="823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54441" y="731520"/>
            <a:ext cx="1108881" cy="1108881"/>
          </a:xfrm>
          <a:custGeom>
            <a:avLst/>
            <a:gdLst/>
            <a:ahLst/>
            <a:cxnLst/>
            <a:rect r="r" b="b" t="t" l="l"/>
            <a:pathLst>
              <a:path h="1108881" w="1108881">
                <a:moveTo>
                  <a:pt x="0" y="0"/>
                </a:moveTo>
                <a:lnTo>
                  <a:pt x="1108882" y="0"/>
                </a:lnTo>
                <a:lnTo>
                  <a:pt x="1108882" y="1108881"/>
                </a:lnTo>
                <a:lnTo>
                  <a:pt x="0" y="11088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135442" y="2289194"/>
            <a:ext cx="7806278" cy="2799601"/>
            <a:chOff x="0" y="0"/>
            <a:chExt cx="2891214" cy="1036889"/>
          </a:xfrm>
        </p:grpSpPr>
        <p:sp>
          <p:nvSpPr>
            <p:cNvPr name="Freeform 8" id="8"/>
            <p:cNvSpPr/>
            <p:nvPr/>
          </p:nvSpPr>
          <p:spPr>
            <a:xfrm flipH="false" flipV="false" rot="0">
              <a:off x="0" y="0"/>
              <a:ext cx="2891214" cy="1036889"/>
            </a:xfrm>
            <a:custGeom>
              <a:avLst/>
              <a:gdLst/>
              <a:ahLst/>
              <a:cxnLst/>
              <a:rect r="r" b="b" t="t" l="l"/>
              <a:pathLst>
                <a:path h="1036889" w="2891214">
                  <a:moveTo>
                    <a:pt x="35703" y="0"/>
                  </a:moveTo>
                  <a:lnTo>
                    <a:pt x="2855511" y="0"/>
                  </a:lnTo>
                  <a:cubicBezTo>
                    <a:pt x="2864980" y="0"/>
                    <a:pt x="2874061" y="3762"/>
                    <a:pt x="2880757" y="10457"/>
                  </a:cubicBezTo>
                  <a:cubicBezTo>
                    <a:pt x="2887453" y="17153"/>
                    <a:pt x="2891214" y="26234"/>
                    <a:pt x="2891214" y="35703"/>
                  </a:cubicBezTo>
                  <a:lnTo>
                    <a:pt x="2891214" y="1001186"/>
                  </a:lnTo>
                  <a:cubicBezTo>
                    <a:pt x="2891214" y="1020904"/>
                    <a:pt x="2875229" y="1036889"/>
                    <a:pt x="2855511" y="1036889"/>
                  </a:cubicBezTo>
                  <a:lnTo>
                    <a:pt x="35703" y="1036889"/>
                  </a:lnTo>
                  <a:cubicBezTo>
                    <a:pt x="15985" y="1036889"/>
                    <a:pt x="0" y="1020904"/>
                    <a:pt x="0" y="1001186"/>
                  </a:cubicBezTo>
                  <a:lnTo>
                    <a:pt x="0" y="35703"/>
                  </a:lnTo>
                  <a:cubicBezTo>
                    <a:pt x="0" y="15985"/>
                    <a:pt x="15985" y="0"/>
                    <a:pt x="35703" y="0"/>
                  </a:cubicBezTo>
                  <a:close/>
                </a:path>
              </a:pathLst>
            </a:custGeom>
            <a:solidFill>
              <a:srgbClr val="2B4CC0"/>
            </a:solidFill>
          </p:spPr>
        </p:sp>
        <p:sp>
          <p:nvSpPr>
            <p:cNvPr name="TextBox 9" id="9"/>
            <p:cNvSpPr txBox="true"/>
            <p:nvPr/>
          </p:nvSpPr>
          <p:spPr>
            <a:xfrm>
              <a:off x="0" y="-57150"/>
              <a:ext cx="2891214" cy="1094039"/>
            </a:xfrm>
            <a:prstGeom prst="rect">
              <a:avLst/>
            </a:prstGeom>
          </p:spPr>
          <p:txBody>
            <a:bodyPr anchor="ctr" rtlCol="false" tIns="50800" lIns="50800" bIns="50800" rIns="50800"/>
            <a:lstStyle/>
            <a:p>
              <a:pPr algn="just">
                <a:lnSpc>
                  <a:spcPts val="2700"/>
                </a:lnSpc>
              </a:pPr>
              <a:r>
                <a:rPr lang="en-US" sz="1800">
                  <a:solidFill>
                    <a:srgbClr val="FFFFFF"/>
                  </a:solidFill>
                  <a:latin typeface="Montserrat"/>
                  <a:ea typeface="Montserrat"/>
                  <a:cs typeface="Montserrat"/>
                  <a:sym typeface="Montserrat"/>
                </a:rPr>
                <a:t>      NETTOYAGE ET PRÉPARATION DES DONNÉES</a:t>
              </a:r>
            </a:p>
            <a:p>
              <a:pPr algn="just">
                <a:lnSpc>
                  <a:spcPts val="2700"/>
                </a:lnSpc>
              </a:pPr>
              <a:r>
                <a:rPr lang="en-US" sz="1800">
                  <a:solidFill>
                    <a:srgbClr val="FFFFFF"/>
                  </a:solidFill>
                  <a:latin typeface="Montserrat"/>
                  <a:ea typeface="Montserrat"/>
                  <a:cs typeface="Montserrat"/>
                  <a:sym typeface="Montserrat"/>
                </a:rPr>
                <a:t>      </a:t>
              </a:r>
              <a:r>
                <a:rPr lang="en-US" sz="1800">
                  <a:solidFill>
                    <a:srgbClr val="FFFFFF"/>
                  </a:solidFill>
                  <a:latin typeface="Montserrat"/>
                  <a:ea typeface="Montserrat"/>
                  <a:cs typeface="Montserrat"/>
                  <a:sym typeface="Montserrat"/>
                </a:rPr>
                <a:t>Normalisation des variables numériques</a:t>
              </a:r>
            </a:p>
            <a:p>
              <a:pPr algn="just">
                <a:lnSpc>
                  <a:spcPts val="2700"/>
                </a:lnSpc>
              </a:pPr>
              <a:r>
                <a:rPr lang="en-US" sz="1800">
                  <a:solidFill>
                    <a:srgbClr val="FFFFFF"/>
                  </a:solidFill>
                  <a:latin typeface="Montserrat"/>
                  <a:ea typeface="Montserrat"/>
                  <a:cs typeface="Montserrat"/>
                  <a:sym typeface="Montserrat"/>
                </a:rPr>
                <a:t>      </a:t>
              </a:r>
              <a:r>
                <a:rPr lang="en-US" sz="1800">
                  <a:solidFill>
                    <a:srgbClr val="FFFFFF"/>
                  </a:solidFill>
                  <a:latin typeface="Montserrat"/>
                  <a:ea typeface="Montserrat"/>
                  <a:cs typeface="Montserrat"/>
                  <a:sym typeface="Montserrat"/>
                </a:rPr>
                <a:t>Création du pipeline de preprocessing</a:t>
              </a:r>
            </a:p>
            <a:p>
              <a:pPr algn="just">
                <a:lnSpc>
                  <a:spcPts val="2700"/>
                </a:lnSpc>
              </a:pPr>
              <a:r>
                <a:rPr lang="en-US" sz="1800">
                  <a:solidFill>
                    <a:srgbClr val="FFFFFF"/>
                  </a:solidFill>
                  <a:latin typeface="Montserrat"/>
                  <a:ea typeface="Montserrat"/>
                  <a:cs typeface="Montserrat"/>
                  <a:sym typeface="Montserrat"/>
                </a:rPr>
                <a:t>      </a:t>
              </a:r>
              <a:r>
                <a:rPr lang="en-US" sz="1800">
                  <a:solidFill>
                    <a:srgbClr val="FFFFFF"/>
                  </a:solidFill>
                  <a:latin typeface="Montserrat"/>
                  <a:ea typeface="Montserrat"/>
                  <a:cs typeface="Montserrat"/>
                  <a:sym typeface="Montserrat"/>
                </a:rPr>
                <a:t>Séparation des données :   </a:t>
              </a:r>
            </a:p>
            <a:p>
              <a:pPr algn="just">
                <a:lnSpc>
                  <a:spcPts val="2700"/>
                </a:lnSpc>
              </a:pPr>
            </a:p>
            <a:p>
              <a:pPr algn="just">
                <a:lnSpc>
                  <a:spcPts val="1620"/>
                </a:lnSpc>
              </a:pPr>
            </a:p>
          </p:txBody>
        </p:sp>
      </p:grpSp>
      <p:sp>
        <p:nvSpPr>
          <p:cNvPr name="TextBox 10" id="10"/>
          <p:cNvSpPr txBox="true"/>
          <p:nvPr/>
        </p:nvSpPr>
        <p:spPr>
          <a:xfrm rot="0">
            <a:off x="1853484" y="4079125"/>
            <a:ext cx="2753961" cy="935355"/>
          </a:xfrm>
          <a:prstGeom prst="rect">
            <a:avLst/>
          </a:prstGeom>
        </p:spPr>
        <p:txBody>
          <a:bodyPr anchor="t" rtlCol="false" tIns="0" lIns="0" bIns="0" rIns="0">
            <a:spAutoFit/>
          </a:bodyPr>
          <a:lstStyle/>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80 % entraînement</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20 % test</a:t>
            </a:r>
          </a:p>
          <a:p>
            <a:pPr algn="l">
              <a:lnSpc>
                <a:spcPts val="252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979680" y="1835665"/>
            <a:ext cx="4169090" cy="834210"/>
          </a:xfrm>
          <a:custGeom>
            <a:avLst/>
            <a:gdLst/>
            <a:ahLst/>
            <a:cxnLst/>
            <a:rect r="r" b="b" t="t" l="l"/>
            <a:pathLst>
              <a:path h="834210" w="4169090">
                <a:moveTo>
                  <a:pt x="0" y="0"/>
                </a:moveTo>
                <a:lnTo>
                  <a:pt x="4169090" y="0"/>
                </a:lnTo>
                <a:lnTo>
                  <a:pt x="4169090" y="834210"/>
                </a:lnTo>
                <a:lnTo>
                  <a:pt x="0" y="834210"/>
                </a:lnTo>
                <a:lnTo>
                  <a:pt x="0" y="0"/>
                </a:lnTo>
                <a:close/>
              </a:path>
            </a:pathLst>
          </a:custGeom>
          <a:blipFill>
            <a:blip r:embed="rId2">
              <a:extLst>
                <a:ext uri="{96DAC541-7B7A-43D3-8B79-37D633B846F1}">
                  <asvg:svgBlip xmlns:asvg="http://schemas.microsoft.com/office/drawing/2016/SVG/main" r:embed="rId3"/>
                </a:ext>
              </a:extLst>
            </a:blip>
            <a:stretch>
              <a:fillRect l="-66014" t="0" r="-67935" b="-276950"/>
            </a:stretch>
          </a:blipFill>
        </p:spPr>
      </p:sp>
      <p:grpSp>
        <p:nvGrpSpPr>
          <p:cNvPr name="Group 3" id="3"/>
          <p:cNvGrpSpPr/>
          <p:nvPr/>
        </p:nvGrpSpPr>
        <p:grpSpPr>
          <a:xfrm rot="0">
            <a:off x="104865" y="2669419"/>
            <a:ext cx="4414069" cy="3418315"/>
            <a:chOff x="0" y="0"/>
            <a:chExt cx="1634840" cy="1266043"/>
          </a:xfrm>
        </p:grpSpPr>
        <p:sp>
          <p:nvSpPr>
            <p:cNvPr name="Freeform 4" id="4"/>
            <p:cNvSpPr/>
            <p:nvPr/>
          </p:nvSpPr>
          <p:spPr>
            <a:xfrm flipH="false" flipV="false" rot="0">
              <a:off x="0" y="0"/>
              <a:ext cx="1634840" cy="1266043"/>
            </a:xfrm>
            <a:custGeom>
              <a:avLst/>
              <a:gdLst/>
              <a:ahLst/>
              <a:cxnLst/>
              <a:rect r="r" b="b" t="t" l="l"/>
              <a:pathLst>
                <a:path h="1266043" w="1634840">
                  <a:moveTo>
                    <a:pt x="63141" y="0"/>
                  </a:moveTo>
                  <a:lnTo>
                    <a:pt x="1571699" y="0"/>
                  </a:lnTo>
                  <a:cubicBezTo>
                    <a:pt x="1588445" y="0"/>
                    <a:pt x="1604505" y="6652"/>
                    <a:pt x="1616347" y="18494"/>
                  </a:cubicBezTo>
                  <a:cubicBezTo>
                    <a:pt x="1628188" y="30335"/>
                    <a:pt x="1634840" y="46395"/>
                    <a:pt x="1634840" y="63141"/>
                  </a:cubicBezTo>
                  <a:lnTo>
                    <a:pt x="1634840" y="1202902"/>
                  </a:lnTo>
                  <a:cubicBezTo>
                    <a:pt x="1634840" y="1219648"/>
                    <a:pt x="1628188" y="1235708"/>
                    <a:pt x="1616347" y="1247549"/>
                  </a:cubicBezTo>
                  <a:cubicBezTo>
                    <a:pt x="1604505" y="1259390"/>
                    <a:pt x="1588445" y="1266043"/>
                    <a:pt x="1571699" y="1266043"/>
                  </a:cubicBezTo>
                  <a:lnTo>
                    <a:pt x="63141" y="1266043"/>
                  </a:lnTo>
                  <a:cubicBezTo>
                    <a:pt x="46395" y="1266043"/>
                    <a:pt x="30335" y="1259390"/>
                    <a:pt x="18494" y="1247549"/>
                  </a:cubicBezTo>
                  <a:cubicBezTo>
                    <a:pt x="6652" y="1235708"/>
                    <a:pt x="0" y="1219648"/>
                    <a:pt x="0" y="1202902"/>
                  </a:cubicBezTo>
                  <a:lnTo>
                    <a:pt x="0" y="63141"/>
                  </a:lnTo>
                  <a:cubicBezTo>
                    <a:pt x="0" y="46395"/>
                    <a:pt x="6652" y="30335"/>
                    <a:pt x="18494" y="18494"/>
                  </a:cubicBezTo>
                  <a:cubicBezTo>
                    <a:pt x="30335" y="6652"/>
                    <a:pt x="46395" y="0"/>
                    <a:pt x="63141" y="0"/>
                  </a:cubicBezTo>
                  <a:close/>
                </a:path>
              </a:pathLst>
            </a:custGeom>
            <a:solidFill>
              <a:srgbClr val="2B4CC0"/>
            </a:solidFill>
          </p:spPr>
        </p:sp>
        <p:sp>
          <p:nvSpPr>
            <p:cNvPr name="TextBox 5" id="5"/>
            <p:cNvSpPr txBox="true"/>
            <p:nvPr/>
          </p:nvSpPr>
          <p:spPr>
            <a:xfrm>
              <a:off x="0" y="47625"/>
              <a:ext cx="1634840" cy="1218418"/>
            </a:xfrm>
            <a:prstGeom prst="rect">
              <a:avLst/>
            </a:prstGeom>
          </p:spPr>
          <p:txBody>
            <a:bodyPr anchor="ctr" rtlCol="false" tIns="50800" lIns="50800" bIns="50800" rIns="50800"/>
            <a:lstStyle/>
            <a:p>
              <a:pPr algn="ctr">
                <a:lnSpc>
                  <a:spcPts val="1709"/>
                </a:lnSpc>
              </a:pPr>
            </a:p>
          </p:txBody>
        </p:sp>
      </p:grpSp>
      <p:sp>
        <p:nvSpPr>
          <p:cNvPr name="TextBox 6" id="6"/>
          <p:cNvSpPr txBox="true"/>
          <p:nvPr/>
        </p:nvSpPr>
        <p:spPr>
          <a:xfrm rot="0">
            <a:off x="350565" y="836295"/>
            <a:ext cx="6468105" cy="1483995"/>
          </a:xfrm>
          <a:prstGeom prst="rect">
            <a:avLst/>
          </a:prstGeom>
        </p:spPr>
        <p:txBody>
          <a:bodyPr anchor="t" rtlCol="false" tIns="0" lIns="0" bIns="0" rIns="0">
            <a:spAutoFit/>
          </a:bodyPr>
          <a:lstStyle/>
          <a:p>
            <a:pPr algn="l" marL="0" indent="0" lvl="0">
              <a:lnSpc>
                <a:spcPts val="3780"/>
              </a:lnSpc>
            </a:pPr>
            <a:r>
              <a:rPr lang="en-US" sz="4200">
                <a:solidFill>
                  <a:srgbClr val="1F3685"/>
                </a:solidFill>
                <a:latin typeface="Archivo Black"/>
                <a:ea typeface="Archivo Black"/>
                <a:cs typeface="Archivo Black"/>
                <a:sym typeface="Archivo Black"/>
              </a:rPr>
              <a:t>MODÈLE 1 : RÉGRESSION LINÉAIRE</a:t>
            </a:r>
          </a:p>
        </p:txBody>
      </p:sp>
      <p:grpSp>
        <p:nvGrpSpPr>
          <p:cNvPr name="Group 7" id="7"/>
          <p:cNvGrpSpPr/>
          <p:nvPr/>
        </p:nvGrpSpPr>
        <p:grpSpPr>
          <a:xfrm rot="0">
            <a:off x="7631981" y="-658579"/>
            <a:ext cx="2780198" cy="278019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9" id="9"/>
            <p:cNvSpPr txBox="true"/>
            <p:nvPr/>
          </p:nvSpPr>
          <p:spPr>
            <a:xfrm>
              <a:off x="76200" y="123825"/>
              <a:ext cx="660400" cy="612775"/>
            </a:xfrm>
            <a:prstGeom prst="rect">
              <a:avLst/>
            </a:prstGeom>
          </p:spPr>
          <p:txBody>
            <a:bodyPr anchor="ctr" rtlCol="false" tIns="50800" lIns="50800" bIns="50800" rIns="50800"/>
            <a:lstStyle/>
            <a:p>
              <a:pPr algn="ctr">
                <a:lnSpc>
                  <a:spcPts val="1620"/>
                </a:lnSpc>
              </a:pPr>
            </a:p>
          </p:txBody>
        </p:sp>
      </p:grpSp>
      <p:sp>
        <p:nvSpPr>
          <p:cNvPr name="Freeform 10" id="10"/>
          <p:cNvSpPr/>
          <p:nvPr/>
        </p:nvSpPr>
        <p:spPr>
          <a:xfrm flipH="false" flipV="false" rot="0">
            <a:off x="731520" y="6415127"/>
            <a:ext cx="1009800" cy="1009800"/>
          </a:xfrm>
          <a:custGeom>
            <a:avLst/>
            <a:gdLst/>
            <a:ahLst/>
            <a:cxnLst/>
            <a:rect r="r" b="b" t="t" l="l"/>
            <a:pathLst>
              <a:path h="1009800" w="1009800">
                <a:moveTo>
                  <a:pt x="0" y="0"/>
                </a:moveTo>
                <a:lnTo>
                  <a:pt x="1009800" y="0"/>
                </a:lnTo>
                <a:lnTo>
                  <a:pt x="1009800" y="1009801"/>
                </a:lnTo>
                <a:lnTo>
                  <a:pt x="0" y="10098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0" y="6920028"/>
            <a:ext cx="9753600" cy="898183"/>
            <a:chOff x="0" y="0"/>
            <a:chExt cx="3612444" cy="332660"/>
          </a:xfrm>
        </p:grpSpPr>
        <p:sp>
          <p:nvSpPr>
            <p:cNvPr name="Freeform 12" id="12"/>
            <p:cNvSpPr/>
            <p:nvPr/>
          </p:nvSpPr>
          <p:spPr>
            <a:xfrm flipH="false" flipV="false" rot="0">
              <a:off x="0" y="0"/>
              <a:ext cx="3612445" cy="332660"/>
            </a:xfrm>
            <a:custGeom>
              <a:avLst/>
              <a:gdLst/>
              <a:ahLst/>
              <a:cxnLst/>
              <a:rect r="r" b="b" t="t" l="l"/>
              <a:pathLst>
                <a:path h="332660" w="3612445">
                  <a:moveTo>
                    <a:pt x="79375" y="0"/>
                  </a:moveTo>
                  <a:lnTo>
                    <a:pt x="3533070" y="0"/>
                  </a:lnTo>
                  <a:cubicBezTo>
                    <a:pt x="3554121" y="0"/>
                    <a:pt x="3574311" y="8363"/>
                    <a:pt x="3589196" y="23248"/>
                  </a:cubicBezTo>
                  <a:cubicBezTo>
                    <a:pt x="3604082" y="38134"/>
                    <a:pt x="3612445" y="58323"/>
                    <a:pt x="3612445" y="79375"/>
                  </a:cubicBezTo>
                  <a:lnTo>
                    <a:pt x="3612445" y="253285"/>
                  </a:lnTo>
                  <a:cubicBezTo>
                    <a:pt x="3612445" y="274337"/>
                    <a:pt x="3604082" y="294526"/>
                    <a:pt x="3589196" y="309412"/>
                  </a:cubicBezTo>
                  <a:cubicBezTo>
                    <a:pt x="3574311" y="324298"/>
                    <a:pt x="3554121" y="332660"/>
                    <a:pt x="3533070" y="332660"/>
                  </a:cubicBezTo>
                  <a:lnTo>
                    <a:pt x="79375" y="332660"/>
                  </a:lnTo>
                  <a:cubicBezTo>
                    <a:pt x="35537" y="332660"/>
                    <a:pt x="0" y="297123"/>
                    <a:pt x="0" y="253285"/>
                  </a:cubicBezTo>
                  <a:lnTo>
                    <a:pt x="0" y="79375"/>
                  </a:lnTo>
                  <a:cubicBezTo>
                    <a:pt x="0" y="35537"/>
                    <a:pt x="35537" y="0"/>
                    <a:pt x="79375" y="0"/>
                  </a:cubicBezTo>
                  <a:close/>
                </a:path>
              </a:pathLst>
            </a:custGeom>
            <a:solidFill>
              <a:srgbClr val="DFE9FF"/>
            </a:solidFill>
          </p:spPr>
        </p:sp>
        <p:sp>
          <p:nvSpPr>
            <p:cNvPr name="TextBox 13" id="13"/>
            <p:cNvSpPr txBox="true"/>
            <p:nvPr/>
          </p:nvSpPr>
          <p:spPr>
            <a:xfrm>
              <a:off x="0" y="47625"/>
              <a:ext cx="3612444" cy="285035"/>
            </a:xfrm>
            <a:prstGeom prst="rect">
              <a:avLst/>
            </a:prstGeom>
          </p:spPr>
          <p:txBody>
            <a:bodyPr anchor="ctr" rtlCol="false" tIns="50800" lIns="50800" bIns="50800" rIns="50800"/>
            <a:lstStyle/>
            <a:p>
              <a:pPr algn="ctr">
                <a:lnSpc>
                  <a:spcPts val="1620"/>
                </a:lnSpc>
              </a:pPr>
            </a:p>
          </p:txBody>
        </p:sp>
      </p:grpSp>
      <p:grpSp>
        <p:nvGrpSpPr>
          <p:cNvPr name="Group 14" id="14"/>
          <p:cNvGrpSpPr/>
          <p:nvPr/>
        </p:nvGrpSpPr>
        <p:grpSpPr>
          <a:xfrm rot="0">
            <a:off x="5442831" y="2538365"/>
            <a:ext cx="3856604" cy="3163967"/>
            <a:chOff x="0" y="0"/>
            <a:chExt cx="745587" cy="611681"/>
          </a:xfrm>
        </p:grpSpPr>
        <p:sp>
          <p:nvSpPr>
            <p:cNvPr name="Freeform 15" id="15"/>
            <p:cNvSpPr/>
            <p:nvPr/>
          </p:nvSpPr>
          <p:spPr>
            <a:xfrm flipH="false" flipV="false" rot="0">
              <a:off x="0" y="0"/>
              <a:ext cx="745587" cy="611681"/>
            </a:xfrm>
            <a:custGeom>
              <a:avLst/>
              <a:gdLst/>
              <a:ahLst/>
              <a:cxnLst/>
              <a:rect r="r" b="b" t="t" l="l"/>
              <a:pathLst>
                <a:path h="611681" w="745587">
                  <a:moveTo>
                    <a:pt x="80298" y="0"/>
                  </a:moveTo>
                  <a:lnTo>
                    <a:pt x="665289" y="0"/>
                  </a:lnTo>
                  <a:cubicBezTo>
                    <a:pt x="686585" y="0"/>
                    <a:pt x="707009" y="8460"/>
                    <a:pt x="722068" y="23519"/>
                  </a:cubicBezTo>
                  <a:cubicBezTo>
                    <a:pt x="737127" y="38577"/>
                    <a:pt x="745587" y="59001"/>
                    <a:pt x="745587" y="80298"/>
                  </a:cubicBezTo>
                  <a:lnTo>
                    <a:pt x="745587" y="531383"/>
                  </a:lnTo>
                  <a:cubicBezTo>
                    <a:pt x="745587" y="575730"/>
                    <a:pt x="709636" y="611681"/>
                    <a:pt x="665289" y="611681"/>
                  </a:cubicBezTo>
                  <a:lnTo>
                    <a:pt x="80298" y="611681"/>
                  </a:lnTo>
                  <a:cubicBezTo>
                    <a:pt x="59001" y="611681"/>
                    <a:pt x="38577" y="603221"/>
                    <a:pt x="23519" y="588162"/>
                  </a:cubicBezTo>
                  <a:cubicBezTo>
                    <a:pt x="8460" y="573103"/>
                    <a:pt x="0" y="552679"/>
                    <a:pt x="0" y="531383"/>
                  </a:cubicBezTo>
                  <a:lnTo>
                    <a:pt x="0" y="80298"/>
                  </a:lnTo>
                  <a:cubicBezTo>
                    <a:pt x="0" y="35951"/>
                    <a:pt x="35951" y="0"/>
                    <a:pt x="80298" y="0"/>
                  </a:cubicBezTo>
                  <a:close/>
                </a:path>
              </a:pathLst>
            </a:custGeom>
            <a:blipFill>
              <a:blip r:embed="rId6"/>
              <a:stretch>
                <a:fillRect l="0" t="-62" r="0" b="-62"/>
              </a:stretch>
            </a:blipFill>
          </p:spPr>
        </p:sp>
      </p:grpSp>
      <p:sp>
        <p:nvSpPr>
          <p:cNvPr name="TextBox 16" id="16"/>
          <p:cNvSpPr txBox="true"/>
          <p:nvPr/>
        </p:nvSpPr>
        <p:spPr>
          <a:xfrm rot="0">
            <a:off x="350565" y="2989577"/>
            <a:ext cx="3922668" cy="2821305"/>
          </a:xfrm>
          <a:prstGeom prst="rect">
            <a:avLst/>
          </a:prstGeom>
        </p:spPr>
        <p:txBody>
          <a:bodyPr anchor="t" rtlCol="false" tIns="0" lIns="0" bIns="0" rIns="0">
            <a:spAutoFit/>
          </a:bodyPr>
          <a:lstStyle/>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Modèle simple et interprétable</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Utilisé comme modèle de référence</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Rapide à entraîner</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Bonnes performances globales</a:t>
            </a:r>
          </a:p>
          <a:p>
            <a:pPr algn="l">
              <a:lnSpc>
                <a:spcPts val="2520"/>
              </a:lnSpc>
            </a:pPr>
          </a:p>
          <a:p>
            <a:pPr algn="l">
              <a:lnSpc>
                <a:spcPts val="2520"/>
              </a:lnSpc>
            </a:pPr>
          </a:p>
        </p:txBody>
      </p:sp>
      <p:sp>
        <p:nvSpPr>
          <p:cNvPr name="TextBox 17" id="17"/>
          <p:cNvSpPr txBox="true"/>
          <p:nvPr/>
        </p:nvSpPr>
        <p:spPr>
          <a:xfrm rot="0">
            <a:off x="3910286" y="6324267"/>
            <a:ext cx="3617099" cy="264159"/>
          </a:xfrm>
          <a:prstGeom prst="rect">
            <a:avLst/>
          </a:prstGeom>
        </p:spPr>
        <p:txBody>
          <a:bodyPr anchor="t" rtlCol="false" tIns="0" lIns="0" bIns="0" rIns="0">
            <a:spAutoFit/>
          </a:bodyPr>
          <a:lstStyle/>
          <a:p>
            <a:pPr algn="l">
              <a:lnSpc>
                <a:spcPts val="2240"/>
              </a:lnSpc>
            </a:pPr>
            <a:r>
              <a:rPr lang="en-US" sz="1600">
                <a:solidFill>
                  <a:srgbClr val="000000"/>
                </a:solidFill>
                <a:latin typeface="Montserrat"/>
                <a:ea typeface="Montserrat"/>
                <a:cs typeface="Montserrat"/>
                <a:sym typeface="Montserrat"/>
              </a:rPr>
              <a:t>RMSE, MAE, R² satisfaisants</a:t>
            </a:r>
          </a:p>
        </p:txBody>
      </p:sp>
      <p:sp>
        <p:nvSpPr>
          <p:cNvPr name="TextBox 18" id="18"/>
          <p:cNvSpPr txBox="true"/>
          <p:nvPr/>
        </p:nvSpPr>
        <p:spPr>
          <a:xfrm rot="0">
            <a:off x="4518934" y="5987082"/>
            <a:ext cx="2562208" cy="251460"/>
          </a:xfrm>
          <a:prstGeom prst="rect">
            <a:avLst/>
          </a:prstGeom>
        </p:spPr>
        <p:txBody>
          <a:bodyPr anchor="t" rtlCol="false" tIns="0" lIns="0" bIns="0" rIns="0">
            <a:spAutoFit/>
          </a:bodyPr>
          <a:lstStyle/>
          <a:p>
            <a:pPr algn="l" marL="0" indent="0" lvl="0">
              <a:lnSpc>
                <a:spcPts val="1890"/>
              </a:lnSpc>
            </a:pPr>
            <a:r>
              <a:rPr lang="en-US" sz="2100">
                <a:solidFill>
                  <a:srgbClr val="000000"/>
                </a:solidFill>
                <a:latin typeface="Montserrat"/>
                <a:ea typeface="Montserrat"/>
                <a:cs typeface="Montserrat"/>
                <a:sym typeface="Montserrat"/>
              </a:rPr>
              <a:t>Résultats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979680" y="1835665"/>
            <a:ext cx="4169090" cy="834210"/>
          </a:xfrm>
          <a:custGeom>
            <a:avLst/>
            <a:gdLst/>
            <a:ahLst/>
            <a:cxnLst/>
            <a:rect r="r" b="b" t="t" l="l"/>
            <a:pathLst>
              <a:path h="834210" w="4169090">
                <a:moveTo>
                  <a:pt x="0" y="0"/>
                </a:moveTo>
                <a:lnTo>
                  <a:pt x="4169090" y="0"/>
                </a:lnTo>
                <a:lnTo>
                  <a:pt x="4169090" y="834210"/>
                </a:lnTo>
                <a:lnTo>
                  <a:pt x="0" y="834210"/>
                </a:lnTo>
                <a:lnTo>
                  <a:pt x="0" y="0"/>
                </a:lnTo>
                <a:close/>
              </a:path>
            </a:pathLst>
          </a:custGeom>
          <a:blipFill>
            <a:blip r:embed="rId2">
              <a:extLst>
                <a:ext uri="{96DAC541-7B7A-43D3-8B79-37D633B846F1}">
                  <asvg:svgBlip xmlns:asvg="http://schemas.microsoft.com/office/drawing/2016/SVG/main" r:embed="rId3"/>
                </a:ext>
              </a:extLst>
            </a:blip>
            <a:stretch>
              <a:fillRect l="-66014" t="0" r="-67935" b="-276950"/>
            </a:stretch>
          </a:blipFill>
        </p:spPr>
      </p:sp>
      <p:grpSp>
        <p:nvGrpSpPr>
          <p:cNvPr name="Group 3" id="3"/>
          <p:cNvGrpSpPr/>
          <p:nvPr/>
        </p:nvGrpSpPr>
        <p:grpSpPr>
          <a:xfrm rot="0">
            <a:off x="731520" y="2950935"/>
            <a:ext cx="4414069" cy="3418315"/>
            <a:chOff x="0" y="0"/>
            <a:chExt cx="1634840" cy="1266043"/>
          </a:xfrm>
        </p:grpSpPr>
        <p:sp>
          <p:nvSpPr>
            <p:cNvPr name="Freeform 4" id="4"/>
            <p:cNvSpPr/>
            <p:nvPr/>
          </p:nvSpPr>
          <p:spPr>
            <a:xfrm flipH="false" flipV="false" rot="0">
              <a:off x="0" y="0"/>
              <a:ext cx="1634840" cy="1266043"/>
            </a:xfrm>
            <a:custGeom>
              <a:avLst/>
              <a:gdLst/>
              <a:ahLst/>
              <a:cxnLst/>
              <a:rect r="r" b="b" t="t" l="l"/>
              <a:pathLst>
                <a:path h="1266043" w="1634840">
                  <a:moveTo>
                    <a:pt x="63141" y="0"/>
                  </a:moveTo>
                  <a:lnTo>
                    <a:pt x="1571699" y="0"/>
                  </a:lnTo>
                  <a:cubicBezTo>
                    <a:pt x="1588445" y="0"/>
                    <a:pt x="1604505" y="6652"/>
                    <a:pt x="1616347" y="18494"/>
                  </a:cubicBezTo>
                  <a:cubicBezTo>
                    <a:pt x="1628188" y="30335"/>
                    <a:pt x="1634840" y="46395"/>
                    <a:pt x="1634840" y="63141"/>
                  </a:cubicBezTo>
                  <a:lnTo>
                    <a:pt x="1634840" y="1202902"/>
                  </a:lnTo>
                  <a:cubicBezTo>
                    <a:pt x="1634840" y="1219648"/>
                    <a:pt x="1628188" y="1235708"/>
                    <a:pt x="1616347" y="1247549"/>
                  </a:cubicBezTo>
                  <a:cubicBezTo>
                    <a:pt x="1604505" y="1259390"/>
                    <a:pt x="1588445" y="1266043"/>
                    <a:pt x="1571699" y="1266043"/>
                  </a:cubicBezTo>
                  <a:lnTo>
                    <a:pt x="63141" y="1266043"/>
                  </a:lnTo>
                  <a:cubicBezTo>
                    <a:pt x="46395" y="1266043"/>
                    <a:pt x="30335" y="1259390"/>
                    <a:pt x="18494" y="1247549"/>
                  </a:cubicBezTo>
                  <a:cubicBezTo>
                    <a:pt x="6652" y="1235708"/>
                    <a:pt x="0" y="1219648"/>
                    <a:pt x="0" y="1202902"/>
                  </a:cubicBezTo>
                  <a:lnTo>
                    <a:pt x="0" y="63141"/>
                  </a:lnTo>
                  <a:cubicBezTo>
                    <a:pt x="0" y="46395"/>
                    <a:pt x="6652" y="30335"/>
                    <a:pt x="18494" y="18494"/>
                  </a:cubicBezTo>
                  <a:cubicBezTo>
                    <a:pt x="30335" y="6652"/>
                    <a:pt x="46395" y="0"/>
                    <a:pt x="63141" y="0"/>
                  </a:cubicBezTo>
                  <a:close/>
                </a:path>
              </a:pathLst>
            </a:custGeom>
            <a:solidFill>
              <a:srgbClr val="2B4CC0"/>
            </a:solidFill>
          </p:spPr>
        </p:sp>
        <p:sp>
          <p:nvSpPr>
            <p:cNvPr name="TextBox 5" id="5"/>
            <p:cNvSpPr txBox="true"/>
            <p:nvPr/>
          </p:nvSpPr>
          <p:spPr>
            <a:xfrm>
              <a:off x="0" y="47625"/>
              <a:ext cx="1634840" cy="1218418"/>
            </a:xfrm>
            <a:prstGeom prst="rect">
              <a:avLst/>
            </a:prstGeom>
          </p:spPr>
          <p:txBody>
            <a:bodyPr anchor="ctr" rtlCol="false" tIns="50800" lIns="50800" bIns="50800" rIns="50800"/>
            <a:lstStyle/>
            <a:p>
              <a:pPr algn="ctr">
                <a:lnSpc>
                  <a:spcPts val="1709"/>
                </a:lnSpc>
              </a:pPr>
            </a:p>
          </p:txBody>
        </p:sp>
      </p:grpSp>
      <p:grpSp>
        <p:nvGrpSpPr>
          <p:cNvPr name="Group 6" id="6"/>
          <p:cNvGrpSpPr/>
          <p:nvPr/>
        </p:nvGrpSpPr>
        <p:grpSpPr>
          <a:xfrm rot="0">
            <a:off x="5219538" y="2336692"/>
            <a:ext cx="3422243" cy="2000622"/>
            <a:chOff x="0" y="0"/>
            <a:chExt cx="745587" cy="435865"/>
          </a:xfrm>
        </p:grpSpPr>
        <p:sp>
          <p:nvSpPr>
            <p:cNvPr name="Freeform 7" id="7"/>
            <p:cNvSpPr/>
            <p:nvPr/>
          </p:nvSpPr>
          <p:spPr>
            <a:xfrm flipH="false" flipV="false" rot="0">
              <a:off x="0" y="0"/>
              <a:ext cx="745587" cy="435865"/>
            </a:xfrm>
            <a:custGeom>
              <a:avLst/>
              <a:gdLst/>
              <a:ahLst/>
              <a:cxnLst/>
              <a:rect r="r" b="b" t="t" l="l"/>
              <a:pathLst>
                <a:path h="435865" w="745587">
                  <a:moveTo>
                    <a:pt x="90489" y="0"/>
                  </a:moveTo>
                  <a:lnTo>
                    <a:pt x="655097" y="0"/>
                  </a:lnTo>
                  <a:cubicBezTo>
                    <a:pt x="679096" y="0"/>
                    <a:pt x="702113" y="9534"/>
                    <a:pt x="719083" y="26504"/>
                  </a:cubicBezTo>
                  <a:cubicBezTo>
                    <a:pt x="736053" y="43474"/>
                    <a:pt x="745587" y="66490"/>
                    <a:pt x="745587" y="90489"/>
                  </a:cubicBezTo>
                  <a:lnTo>
                    <a:pt x="745587" y="345376"/>
                  </a:lnTo>
                  <a:cubicBezTo>
                    <a:pt x="745587" y="369375"/>
                    <a:pt x="736053" y="392392"/>
                    <a:pt x="719083" y="409362"/>
                  </a:cubicBezTo>
                  <a:cubicBezTo>
                    <a:pt x="702113" y="426332"/>
                    <a:pt x="679096" y="435865"/>
                    <a:pt x="655097" y="435865"/>
                  </a:cubicBezTo>
                  <a:lnTo>
                    <a:pt x="90489" y="435865"/>
                  </a:lnTo>
                  <a:cubicBezTo>
                    <a:pt x="66490" y="435865"/>
                    <a:pt x="43474" y="426332"/>
                    <a:pt x="26504" y="409362"/>
                  </a:cubicBezTo>
                  <a:cubicBezTo>
                    <a:pt x="9534" y="392392"/>
                    <a:pt x="0" y="369375"/>
                    <a:pt x="0" y="345376"/>
                  </a:cubicBezTo>
                  <a:lnTo>
                    <a:pt x="0" y="90489"/>
                  </a:lnTo>
                  <a:cubicBezTo>
                    <a:pt x="0" y="66490"/>
                    <a:pt x="9534" y="43474"/>
                    <a:pt x="26504" y="26504"/>
                  </a:cubicBezTo>
                  <a:cubicBezTo>
                    <a:pt x="43474" y="9534"/>
                    <a:pt x="66490" y="0"/>
                    <a:pt x="90489" y="0"/>
                  </a:cubicBezTo>
                  <a:close/>
                </a:path>
              </a:pathLst>
            </a:custGeom>
            <a:blipFill>
              <a:blip r:embed="rId4"/>
              <a:stretch>
                <a:fillRect l="0" t="-996" r="0" b="-996"/>
              </a:stretch>
            </a:blipFill>
          </p:spPr>
        </p:sp>
      </p:grpSp>
      <p:sp>
        <p:nvSpPr>
          <p:cNvPr name="TextBox 8" id="8"/>
          <p:cNvSpPr txBox="true"/>
          <p:nvPr/>
        </p:nvSpPr>
        <p:spPr>
          <a:xfrm rot="0">
            <a:off x="1262956" y="1064050"/>
            <a:ext cx="6468105" cy="1007745"/>
          </a:xfrm>
          <a:prstGeom prst="rect">
            <a:avLst/>
          </a:prstGeom>
        </p:spPr>
        <p:txBody>
          <a:bodyPr anchor="t" rtlCol="false" tIns="0" lIns="0" bIns="0" rIns="0">
            <a:spAutoFit/>
          </a:bodyPr>
          <a:lstStyle/>
          <a:p>
            <a:pPr algn="l" marL="0" indent="0" lvl="0">
              <a:lnSpc>
                <a:spcPts val="3780"/>
              </a:lnSpc>
            </a:pPr>
            <a:r>
              <a:rPr lang="en-US" sz="4200">
                <a:solidFill>
                  <a:srgbClr val="1F3685"/>
                </a:solidFill>
                <a:latin typeface="Archivo Black"/>
                <a:ea typeface="Archivo Black"/>
                <a:cs typeface="Archivo Black"/>
                <a:sym typeface="Archivo Black"/>
              </a:rPr>
              <a:t>MODÈLE 2 : RANDOM FOREST</a:t>
            </a:r>
          </a:p>
        </p:txBody>
      </p:sp>
      <p:grpSp>
        <p:nvGrpSpPr>
          <p:cNvPr name="Group 9" id="9"/>
          <p:cNvGrpSpPr/>
          <p:nvPr/>
        </p:nvGrpSpPr>
        <p:grpSpPr>
          <a:xfrm rot="0">
            <a:off x="7631981" y="-658579"/>
            <a:ext cx="2780198" cy="278019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11" id="11"/>
            <p:cNvSpPr txBox="true"/>
            <p:nvPr/>
          </p:nvSpPr>
          <p:spPr>
            <a:xfrm>
              <a:off x="76200" y="123825"/>
              <a:ext cx="660400" cy="612775"/>
            </a:xfrm>
            <a:prstGeom prst="rect">
              <a:avLst/>
            </a:prstGeom>
          </p:spPr>
          <p:txBody>
            <a:bodyPr anchor="ctr" rtlCol="false" tIns="50800" lIns="50800" bIns="50800" rIns="50800"/>
            <a:lstStyle/>
            <a:p>
              <a:pPr algn="ctr">
                <a:lnSpc>
                  <a:spcPts val="1620"/>
                </a:lnSpc>
              </a:pPr>
            </a:p>
          </p:txBody>
        </p:sp>
      </p:grpSp>
      <p:sp>
        <p:nvSpPr>
          <p:cNvPr name="Freeform 12" id="12"/>
          <p:cNvSpPr/>
          <p:nvPr/>
        </p:nvSpPr>
        <p:spPr>
          <a:xfrm flipH="false" flipV="false" rot="0">
            <a:off x="7631981" y="1242969"/>
            <a:ext cx="1009800" cy="1009800"/>
          </a:xfrm>
          <a:custGeom>
            <a:avLst/>
            <a:gdLst/>
            <a:ahLst/>
            <a:cxnLst/>
            <a:rect r="r" b="b" t="t" l="l"/>
            <a:pathLst>
              <a:path h="1009800" w="1009800">
                <a:moveTo>
                  <a:pt x="0" y="0"/>
                </a:moveTo>
                <a:lnTo>
                  <a:pt x="1009800" y="0"/>
                </a:lnTo>
                <a:lnTo>
                  <a:pt x="1009800" y="1009801"/>
                </a:lnTo>
                <a:lnTo>
                  <a:pt x="0" y="10098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0" y="6920028"/>
            <a:ext cx="9753600" cy="898183"/>
            <a:chOff x="0" y="0"/>
            <a:chExt cx="3612444" cy="332660"/>
          </a:xfrm>
        </p:grpSpPr>
        <p:sp>
          <p:nvSpPr>
            <p:cNvPr name="Freeform 14" id="14"/>
            <p:cNvSpPr/>
            <p:nvPr/>
          </p:nvSpPr>
          <p:spPr>
            <a:xfrm flipH="false" flipV="false" rot="0">
              <a:off x="0" y="0"/>
              <a:ext cx="3612445" cy="332660"/>
            </a:xfrm>
            <a:custGeom>
              <a:avLst/>
              <a:gdLst/>
              <a:ahLst/>
              <a:cxnLst/>
              <a:rect r="r" b="b" t="t" l="l"/>
              <a:pathLst>
                <a:path h="332660" w="3612445">
                  <a:moveTo>
                    <a:pt x="79375" y="0"/>
                  </a:moveTo>
                  <a:lnTo>
                    <a:pt x="3533070" y="0"/>
                  </a:lnTo>
                  <a:cubicBezTo>
                    <a:pt x="3554121" y="0"/>
                    <a:pt x="3574311" y="8363"/>
                    <a:pt x="3589196" y="23248"/>
                  </a:cubicBezTo>
                  <a:cubicBezTo>
                    <a:pt x="3604082" y="38134"/>
                    <a:pt x="3612445" y="58323"/>
                    <a:pt x="3612445" y="79375"/>
                  </a:cubicBezTo>
                  <a:lnTo>
                    <a:pt x="3612445" y="253285"/>
                  </a:lnTo>
                  <a:cubicBezTo>
                    <a:pt x="3612445" y="274337"/>
                    <a:pt x="3604082" y="294526"/>
                    <a:pt x="3589196" y="309412"/>
                  </a:cubicBezTo>
                  <a:cubicBezTo>
                    <a:pt x="3574311" y="324298"/>
                    <a:pt x="3554121" y="332660"/>
                    <a:pt x="3533070" y="332660"/>
                  </a:cubicBezTo>
                  <a:lnTo>
                    <a:pt x="79375" y="332660"/>
                  </a:lnTo>
                  <a:cubicBezTo>
                    <a:pt x="35537" y="332660"/>
                    <a:pt x="0" y="297123"/>
                    <a:pt x="0" y="253285"/>
                  </a:cubicBezTo>
                  <a:lnTo>
                    <a:pt x="0" y="79375"/>
                  </a:lnTo>
                  <a:cubicBezTo>
                    <a:pt x="0" y="35537"/>
                    <a:pt x="35537" y="0"/>
                    <a:pt x="79375" y="0"/>
                  </a:cubicBezTo>
                  <a:close/>
                </a:path>
              </a:pathLst>
            </a:custGeom>
            <a:solidFill>
              <a:srgbClr val="DFE9FF"/>
            </a:solidFill>
          </p:spPr>
        </p:sp>
        <p:sp>
          <p:nvSpPr>
            <p:cNvPr name="TextBox 15" id="15"/>
            <p:cNvSpPr txBox="true"/>
            <p:nvPr/>
          </p:nvSpPr>
          <p:spPr>
            <a:xfrm>
              <a:off x="0" y="47625"/>
              <a:ext cx="3612444" cy="285035"/>
            </a:xfrm>
            <a:prstGeom prst="rect">
              <a:avLst/>
            </a:prstGeom>
          </p:spPr>
          <p:txBody>
            <a:bodyPr anchor="ctr" rtlCol="false" tIns="50800" lIns="50800" bIns="50800" rIns="50800"/>
            <a:lstStyle/>
            <a:p>
              <a:pPr algn="ctr">
                <a:lnSpc>
                  <a:spcPts val="1620"/>
                </a:lnSpc>
              </a:pPr>
            </a:p>
          </p:txBody>
        </p:sp>
      </p:grpSp>
      <p:sp>
        <p:nvSpPr>
          <p:cNvPr name="TextBox 16" id="16"/>
          <p:cNvSpPr txBox="true"/>
          <p:nvPr/>
        </p:nvSpPr>
        <p:spPr>
          <a:xfrm rot="0">
            <a:off x="1099570" y="3420946"/>
            <a:ext cx="3922668" cy="2506980"/>
          </a:xfrm>
          <a:prstGeom prst="rect">
            <a:avLst/>
          </a:prstGeom>
        </p:spPr>
        <p:txBody>
          <a:bodyPr anchor="t" rtlCol="false" tIns="0" lIns="0" bIns="0" rIns="0">
            <a:spAutoFit/>
          </a:bodyPr>
          <a:lstStyle/>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Modèle basé sur plusieurs arbres de décision</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Capture les relations non linéaires</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Robuste face au bruit</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Bonne capacité de généralisation</a:t>
            </a:r>
          </a:p>
          <a:p>
            <a:pPr algn="l">
              <a:lnSpc>
                <a:spcPts val="2520"/>
              </a:lnSpc>
            </a:pPr>
          </a:p>
        </p:txBody>
      </p:sp>
      <p:sp>
        <p:nvSpPr>
          <p:cNvPr name="TextBox 17" id="17"/>
          <p:cNvSpPr txBox="true"/>
          <p:nvPr/>
        </p:nvSpPr>
        <p:spPr>
          <a:xfrm rot="0">
            <a:off x="2825665" y="6545580"/>
            <a:ext cx="4639848" cy="585470"/>
          </a:xfrm>
          <a:prstGeom prst="rect">
            <a:avLst/>
          </a:prstGeom>
        </p:spPr>
        <p:txBody>
          <a:bodyPr anchor="t" rtlCol="false" tIns="0" lIns="0" bIns="0" rIns="0">
            <a:spAutoFit/>
          </a:bodyPr>
          <a:lstStyle/>
          <a:p>
            <a:pPr algn="l">
              <a:lnSpc>
                <a:spcPts val="2520"/>
              </a:lnSpc>
            </a:pPr>
          </a:p>
          <a:p>
            <a:pPr algn="l">
              <a:lnSpc>
                <a:spcPts val="2240"/>
              </a:lnSpc>
            </a:pPr>
            <a:r>
              <a:rPr lang="en-US" sz="1600">
                <a:solidFill>
                  <a:srgbClr val="000000"/>
                </a:solidFill>
                <a:latin typeface="Montserrat"/>
                <a:ea typeface="Montserrat"/>
                <a:cs typeface="Montserrat"/>
                <a:sym typeface="Montserrat"/>
              </a:rPr>
              <a:t>Amélioration par rapport au modèle linéaire</a:t>
            </a:r>
          </a:p>
        </p:txBody>
      </p:sp>
      <p:sp>
        <p:nvSpPr>
          <p:cNvPr name="TextBox 18" id="18"/>
          <p:cNvSpPr txBox="true"/>
          <p:nvPr/>
        </p:nvSpPr>
        <p:spPr>
          <a:xfrm rot="0">
            <a:off x="4208053" y="6491288"/>
            <a:ext cx="2562208" cy="251460"/>
          </a:xfrm>
          <a:prstGeom prst="rect">
            <a:avLst/>
          </a:prstGeom>
        </p:spPr>
        <p:txBody>
          <a:bodyPr anchor="t" rtlCol="false" tIns="0" lIns="0" bIns="0" rIns="0">
            <a:spAutoFit/>
          </a:bodyPr>
          <a:lstStyle/>
          <a:p>
            <a:pPr algn="l" marL="0" indent="0" lvl="0">
              <a:lnSpc>
                <a:spcPts val="1890"/>
              </a:lnSpc>
            </a:pPr>
            <a:r>
              <a:rPr lang="en-US" sz="2100">
                <a:solidFill>
                  <a:srgbClr val="000000"/>
                </a:solidFill>
                <a:latin typeface="Montserrat"/>
                <a:ea typeface="Montserrat"/>
                <a:cs typeface="Montserrat"/>
                <a:sym typeface="Montserrat"/>
              </a:rPr>
              <a:t>Résultats</a:t>
            </a:r>
          </a:p>
        </p:txBody>
      </p:sp>
      <p:grpSp>
        <p:nvGrpSpPr>
          <p:cNvPr name="Group 19" id="19"/>
          <p:cNvGrpSpPr/>
          <p:nvPr/>
        </p:nvGrpSpPr>
        <p:grpSpPr>
          <a:xfrm rot="0">
            <a:off x="6770261" y="4423039"/>
            <a:ext cx="2733240" cy="2194550"/>
            <a:chOff x="0" y="0"/>
            <a:chExt cx="786318" cy="631344"/>
          </a:xfrm>
        </p:grpSpPr>
        <p:sp>
          <p:nvSpPr>
            <p:cNvPr name="Freeform 20" id="20"/>
            <p:cNvSpPr/>
            <p:nvPr/>
          </p:nvSpPr>
          <p:spPr>
            <a:xfrm flipH="false" flipV="false" rot="0">
              <a:off x="0" y="0"/>
              <a:ext cx="786318" cy="631344"/>
            </a:xfrm>
            <a:custGeom>
              <a:avLst/>
              <a:gdLst/>
              <a:ahLst/>
              <a:cxnLst/>
              <a:rect r="r" b="b" t="t" l="l"/>
              <a:pathLst>
                <a:path h="631344" w="786318">
                  <a:moveTo>
                    <a:pt x="113300" y="0"/>
                  </a:moveTo>
                  <a:lnTo>
                    <a:pt x="673018" y="0"/>
                  </a:lnTo>
                  <a:cubicBezTo>
                    <a:pt x="735592" y="0"/>
                    <a:pt x="786318" y="50726"/>
                    <a:pt x="786318" y="113300"/>
                  </a:cubicBezTo>
                  <a:lnTo>
                    <a:pt x="786318" y="518043"/>
                  </a:lnTo>
                  <a:cubicBezTo>
                    <a:pt x="786318" y="548092"/>
                    <a:pt x="774381" y="576911"/>
                    <a:pt x="753133" y="598159"/>
                  </a:cubicBezTo>
                  <a:cubicBezTo>
                    <a:pt x="731885" y="619407"/>
                    <a:pt x="703067" y="631344"/>
                    <a:pt x="673018" y="631344"/>
                  </a:cubicBezTo>
                  <a:lnTo>
                    <a:pt x="113300" y="631344"/>
                  </a:lnTo>
                  <a:cubicBezTo>
                    <a:pt x="50726" y="631344"/>
                    <a:pt x="0" y="580617"/>
                    <a:pt x="0" y="518043"/>
                  </a:cubicBezTo>
                  <a:lnTo>
                    <a:pt x="0" y="113300"/>
                  </a:lnTo>
                  <a:cubicBezTo>
                    <a:pt x="0" y="83251"/>
                    <a:pt x="11937" y="54433"/>
                    <a:pt x="33185" y="33185"/>
                  </a:cubicBezTo>
                  <a:cubicBezTo>
                    <a:pt x="54433" y="11937"/>
                    <a:pt x="83251" y="0"/>
                    <a:pt x="113300" y="0"/>
                  </a:cubicBezTo>
                  <a:close/>
                </a:path>
              </a:pathLst>
            </a:custGeom>
            <a:blipFill>
              <a:blip r:embed="rId7"/>
              <a:stretch>
                <a:fillRect l="0" t="-488" r="0" b="-488"/>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979680" y="1835665"/>
            <a:ext cx="4169090" cy="834210"/>
          </a:xfrm>
          <a:custGeom>
            <a:avLst/>
            <a:gdLst/>
            <a:ahLst/>
            <a:cxnLst/>
            <a:rect r="r" b="b" t="t" l="l"/>
            <a:pathLst>
              <a:path h="834210" w="4169090">
                <a:moveTo>
                  <a:pt x="0" y="0"/>
                </a:moveTo>
                <a:lnTo>
                  <a:pt x="4169090" y="0"/>
                </a:lnTo>
                <a:lnTo>
                  <a:pt x="4169090" y="834210"/>
                </a:lnTo>
                <a:lnTo>
                  <a:pt x="0" y="834210"/>
                </a:lnTo>
                <a:lnTo>
                  <a:pt x="0" y="0"/>
                </a:lnTo>
                <a:close/>
              </a:path>
            </a:pathLst>
          </a:custGeom>
          <a:blipFill>
            <a:blip r:embed="rId2">
              <a:extLst>
                <a:ext uri="{96DAC541-7B7A-43D3-8B79-37D633B846F1}">
                  <asvg:svgBlip xmlns:asvg="http://schemas.microsoft.com/office/drawing/2016/SVG/main" r:embed="rId3"/>
                </a:ext>
              </a:extLst>
            </a:blip>
            <a:stretch>
              <a:fillRect l="-66014" t="0" r="-67935" b="-276950"/>
            </a:stretch>
          </a:blipFill>
        </p:spPr>
      </p:sp>
      <p:grpSp>
        <p:nvGrpSpPr>
          <p:cNvPr name="Group 3" id="3"/>
          <p:cNvGrpSpPr/>
          <p:nvPr/>
        </p:nvGrpSpPr>
        <p:grpSpPr>
          <a:xfrm rot="0">
            <a:off x="731520" y="2950935"/>
            <a:ext cx="4414069" cy="3418315"/>
            <a:chOff x="0" y="0"/>
            <a:chExt cx="1634840" cy="1266043"/>
          </a:xfrm>
        </p:grpSpPr>
        <p:sp>
          <p:nvSpPr>
            <p:cNvPr name="Freeform 4" id="4"/>
            <p:cNvSpPr/>
            <p:nvPr/>
          </p:nvSpPr>
          <p:spPr>
            <a:xfrm flipH="false" flipV="false" rot="0">
              <a:off x="0" y="0"/>
              <a:ext cx="1634840" cy="1266043"/>
            </a:xfrm>
            <a:custGeom>
              <a:avLst/>
              <a:gdLst/>
              <a:ahLst/>
              <a:cxnLst/>
              <a:rect r="r" b="b" t="t" l="l"/>
              <a:pathLst>
                <a:path h="1266043" w="1634840">
                  <a:moveTo>
                    <a:pt x="63141" y="0"/>
                  </a:moveTo>
                  <a:lnTo>
                    <a:pt x="1571699" y="0"/>
                  </a:lnTo>
                  <a:cubicBezTo>
                    <a:pt x="1588445" y="0"/>
                    <a:pt x="1604505" y="6652"/>
                    <a:pt x="1616347" y="18494"/>
                  </a:cubicBezTo>
                  <a:cubicBezTo>
                    <a:pt x="1628188" y="30335"/>
                    <a:pt x="1634840" y="46395"/>
                    <a:pt x="1634840" y="63141"/>
                  </a:cubicBezTo>
                  <a:lnTo>
                    <a:pt x="1634840" y="1202902"/>
                  </a:lnTo>
                  <a:cubicBezTo>
                    <a:pt x="1634840" y="1219648"/>
                    <a:pt x="1628188" y="1235708"/>
                    <a:pt x="1616347" y="1247549"/>
                  </a:cubicBezTo>
                  <a:cubicBezTo>
                    <a:pt x="1604505" y="1259390"/>
                    <a:pt x="1588445" y="1266043"/>
                    <a:pt x="1571699" y="1266043"/>
                  </a:cubicBezTo>
                  <a:lnTo>
                    <a:pt x="63141" y="1266043"/>
                  </a:lnTo>
                  <a:cubicBezTo>
                    <a:pt x="46395" y="1266043"/>
                    <a:pt x="30335" y="1259390"/>
                    <a:pt x="18494" y="1247549"/>
                  </a:cubicBezTo>
                  <a:cubicBezTo>
                    <a:pt x="6652" y="1235708"/>
                    <a:pt x="0" y="1219648"/>
                    <a:pt x="0" y="1202902"/>
                  </a:cubicBezTo>
                  <a:lnTo>
                    <a:pt x="0" y="63141"/>
                  </a:lnTo>
                  <a:cubicBezTo>
                    <a:pt x="0" y="46395"/>
                    <a:pt x="6652" y="30335"/>
                    <a:pt x="18494" y="18494"/>
                  </a:cubicBezTo>
                  <a:cubicBezTo>
                    <a:pt x="30335" y="6652"/>
                    <a:pt x="46395" y="0"/>
                    <a:pt x="63141" y="0"/>
                  </a:cubicBezTo>
                  <a:close/>
                </a:path>
              </a:pathLst>
            </a:custGeom>
            <a:solidFill>
              <a:srgbClr val="2B4CC0"/>
            </a:solidFill>
          </p:spPr>
        </p:sp>
        <p:sp>
          <p:nvSpPr>
            <p:cNvPr name="TextBox 5" id="5"/>
            <p:cNvSpPr txBox="true"/>
            <p:nvPr/>
          </p:nvSpPr>
          <p:spPr>
            <a:xfrm>
              <a:off x="0" y="47625"/>
              <a:ext cx="1634840" cy="1218418"/>
            </a:xfrm>
            <a:prstGeom prst="rect">
              <a:avLst/>
            </a:prstGeom>
          </p:spPr>
          <p:txBody>
            <a:bodyPr anchor="ctr" rtlCol="false" tIns="50800" lIns="50800" bIns="50800" rIns="50800"/>
            <a:lstStyle/>
            <a:p>
              <a:pPr algn="ctr">
                <a:lnSpc>
                  <a:spcPts val="1709"/>
                </a:lnSpc>
              </a:pPr>
            </a:p>
          </p:txBody>
        </p:sp>
      </p:grpSp>
      <p:sp>
        <p:nvSpPr>
          <p:cNvPr name="TextBox 6" id="6"/>
          <p:cNvSpPr txBox="true"/>
          <p:nvPr/>
        </p:nvSpPr>
        <p:spPr>
          <a:xfrm rot="0">
            <a:off x="1262956" y="1064050"/>
            <a:ext cx="6468105" cy="1007745"/>
          </a:xfrm>
          <a:prstGeom prst="rect">
            <a:avLst/>
          </a:prstGeom>
        </p:spPr>
        <p:txBody>
          <a:bodyPr anchor="t" rtlCol="false" tIns="0" lIns="0" bIns="0" rIns="0">
            <a:spAutoFit/>
          </a:bodyPr>
          <a:lstStyle/>
          <a:p>
            <a:pPr algn="l" marL="0" indent="0" lvl="0">
              <a:lnSpc>
                <a:spcPts val="3780"/>
              </a:lnSpc>
            </a:pPr>
            <a:r>
              <a:rPr lang="en-US" sz="4200">
                <a:solidFill>
                  <a:srgbClr val="1F3685"/>
                </a:solidFill>
                <a:latin typeface="Archivo Black"/>
                <a:ea typeface="Archivo Black"/>
                <a:cs typeface="Archivo Black"/>
                <a:sym typeface="Archivo Black"/>
              </a:rPr>
              <a:t>MODÈLE 3 : GRADIENT BOOSTING</a:t>
            </a:r>
          </a:p>
        </p:txBody>
      </p:sp>
      <p:grpSp>
        <p:nvGrpSpPr>
          <p:cNvPr name="Group 7" id="7"/>
          <p:cNvGrpSpPr/>
          <p:nvPr/>
        </p:nvGrpSpPr>
        <p:grpSpPr>
          <a:xfrm rot="0">
            <a:off x="7631981" y="-658579"/>
            <a:ext cx="2780198" cy="278019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9" id="9"/>
            <p:cNvSpPr txBox="true"/>
            <p:nvPr/>
          </p:nvSpPr>
          <p:spPr>
            <a:xfrm>
              <a:off x="76200" y="123825"/>
              <a:ext cx="660400" cy="612775"/>
            </a:xfrm>
            <a:prstGeom prst="rect">
              <a:avLst/>
            </a:prstGeom>
          </p:spPr>
          <p:txBody>
            <a:bodyPr anchor="ctr" rtlCol="false" tIns="50800" lIns="50800" bIns="50800" rIns="50800"/>
            <a:lstStyle/>
            <a:p>
              <a:pPr algn="ctr">
                <a:lnSpc>
                  <a:spcPts val="1620"/>
                </a:lnSpc>
              </a:pPr>
            </a:p>
          </p:txBody>
        </p:sp>
      </p:grpSp>
      <p:sp>
        <p:nvSpPr>
          <p:cNvPr name="Freeform 10" id="10"/>
          <p:cNvSpPr/>
          <p:nvPr/>
        </p:nvSpPr>
        <p:spPr>
          <a:xfrm flipH="false" flipV="false" rot="0">
            <a:off x="7631981" y="1242969"/>
            <a:ext cx="1009800" cy="1009800"/>
          </a:xfrm>
          <a:custGeom>
            <a:avLst/>
            <a:gdLst/>
            <a:ahLst/>
            <a:cxnLst/>
            <a:rect r="r" b="b" t="t" l="l"/>
            <a:pathLst>
              <a:path h="1009800" w="1009800">
                <a:moveTo>
                  <a:pt x="0" y="0"/>
                </a:moveTo>
                <a:lnTo>
                  <a:pt x="1009800" y="0"/>
                </a:lnTo>
                <a:lnTo>
                  <a:pt x="1009800" y="1009801"/>
                </a:lnTo>
                <a:lnTo>
                  <a:pt x="0" y="10098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0" y="6920028"/>
            <a:ext cx="9753600" cy="898183"/>
            <a:chOff x="0" y="0"/>
            <a:chExt cx="3612444" cy="332660"/>
          </a:xfrm>
        </p:grpSpPr>
        <p:sp>
          <p:nvSpPr>
            <p:cNvPr name="Freeform 12" id="12"/>
            <p:cNvSpPr/>
            <p:nvPr/>
          </p:nvSpPr>
          <p:spPr>
            <a:xfrm flipH="false" flipV="false" rot="0">
              <a:off x="0" y="0"/>
              <a:ext cx="3612445" cy="332660"/>
            </a:xfrm>
            <a:custGeom>
              <a:avLst/>
              <a:gdLst/>
              <a:ahLst/>
              <a:cxnLst/>
              <a:rect r="r" b="b" t="t" l="l"/>
              <a:pathLst>
                <a:path h="332660" w="3612445">
                  <a:moveTo>
                    <a:pt x="79375" y="0"/>
                  </a:moveTo>
                  <a:lnTo>
                    <a:pt x="3533070" y="0"/>
                  </a:lnTo>
                  <a:cubicBezTo>
                    <a:pt x="3554121" y="0"/>
                    <a:pt x="3574311" y="8363"/>
                    <a:pt x="3589196" y="23248"/>
                  </a:cubicBezTo>
                  <a:cubicBezTo>
                    <a:pt x="3604082" y="38134"/>
                    <a:pt x="3612445" y="58323"/>
                    <a:pt x="3612445" y="79375"/>
                  </a:cubicBezTo>
                  <a:lnTo>
                    <a:pt x="3612445" y="253285"/>
                  </a:lnTo>
                  <a:cubicBezTo>
                    <a:pt x="3612445" y="274337"/>
                    <a:pt x="3604082" y="294526"/>
                    <a:pt x="3589196" y="309412"/>
                  </a:cubicBezTo>
                  <a:cubicBezTo>
                    <a:pt x="3574311" y="324298"/>
                    <a:pt x="3554121" y="332660"/>
                    <a:pt x="3533070" y="332660"/>
                  </a:cubicBezTo>
                  <a:lnTo>
                    <a:pt x="79375" y="332660"/>
                  </a:lnTo>
                  <a:cubicBezTo>
                    <a:pt x="35537" y="332660"/>
                    <a:pt x="0" y="297123"/>
                    <a:pt x="0" y="253285"/>
                  </a:cubicBezTo>
                  <a:lnTo>
                    <a:pt x="0" y="79375"/>
                  </a:lnTo>
                  <a:cubicBezTo>
                    <a:pt x="0" y="35537"/>
                    <a:pt x="35537" y="0"/>
                    <a:pt x="79375" y="0"/>
                  </a:cubicBezTo>
                  <a:close/>
                </a:path>
              </a:pathLst>
            </a:custGeom>
            <a:solidFill>
              <a:srgbClr val="DFE9FF"/>
            </a:solidFill>
          </p:spPr>
        </p:sp>
        <p:sp>
          <p:nvSpPr>
            <p:cNvPr name="TextBox 13" id="13"/>
            <p:cNvSpPr txBox="true"/>
            <p:nvPr/>
          </p:nvSpPr>
          <p:spPr>
            <a:xfrm>
              <a:off x="0" y="47625"/>
              <a:ext cx="3612444" cy="285035"/>
            </a:xfrm>
            <a:prstGeom prst="rect">
              <a:avLst/>
            </a:prstGeom>
          </p:spPr>
          <p:txBody>
            <a:bodyPr anchor="ctr" rtlCol="false" tIns="50800" lIns="50800" bIns="50800" rIns="50800"/>
            <a:lstStyle/>
            <a:p>
              <a:pPr algn="ctr">
                <a:lnSpc>
                  <a:spcPts val="1620"/>
                </a:lnSpc>
              </a:pPr>
            </a:p>
          </p:txBody>
        </p:sp>
      </p:grpSp>
      <p:sp>
        <p:nvSpPr>
          <p:cNvPr name="TextBox 14" id="14"/>
          <p:cNvSpPr txBox="true"/>
          <p:nvPr/>
        </p:nvSpPr>
        <p:spPr>
          <a:xfrm rot="0">
            <a:off x="1099570" y="3420946"/>
            <a:ext cx="3922668" cy="2192655"/>
          </a:xfrm>
          <a:prstGeom prst="rect">
            <a:avLst/>
          </a:prstGeom>
        </p:spPr>
        <p:txBody>
          <a:bodyPr anchor="t" rtlCol="false" tIns="0" lIns="0" bIns="0" rIns="0">
            <a:spAutoFit/>
          </a:bodyPr>
          <a:lstStyle/>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Modèle itératif et performant</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Corrige progressivement les erreurs</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Très précis sur les données complexes</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M</a:t>
            </a:r>
            <a:r>
              <a:rPr lang="en-US" sz="1800">
                <a:solidFill>
                  <a:srgbClr val="FFFFFF"/>
                </a:solidFill>
                <a:latin typeface="Montserrat"/>
                <a:ea typeface="Montserrat"/>
                <a:cs typeface="Montserrat"/>
                <a:sym typeface="Montserrat"/>
              </a:rPr>
              <a:t>odèle plus coûteux en calcul</a:t>
            </a:r>
          </a:p>
          <a:p>
            <a:pPr algn="l">
              <a:lnSpc>
                <a:spcPts val="2520"/>
              </a:lnSpc>
            </a:pPr>
          </a:p>
        </p:txBody>
      </p:sp>
      <p:sp>
        <p:nvSpPr>
          <p:cNvPr name="TextBox 15" id="15"/>
          <p:cNvSpPr txBox="true"/>
          <p:nvPr/>
        </p:nvSpPr>
        <p:spPr>
          <a:xfrm rot="0">
            <a:off x="5823431" y="6043296"/>
            <a:ext cx="3617099" cy="540384"/>
          </a:xfrm>
          <a:prstGeom prst="rect">
            <a:avLst/>
          </a:prstGeom>
        </p:spPr>
        <p:txBody>
          <a:bodyPr anchor="t" rtlCol="false" tIns="0" lIns="0" bIns="0" rIns="0">
            <a:spAutoFit/>
          </a:bodyPr>
          <a:lstStyle/>
          <a:p>
            <a:pPr algn="l">
              <a:lnSpc>
                <a:spcPts val="2240"/>
              </a:lnSpc>
            </a:pPr>
            <a:r>
              <a:rPr lang="en-US" sz="1600">
                <a:solidFill>
                  <a:srgbClr val="000000"/>
                </a:solidFill>
                <a:latin typeface="Montserrat"/>
                <a:ea typeface="Montserrat"/>
                <a:cs typeface="Montserrat"/>
                <a:sym typeface="Montserrat"/>
              </a:rPr>
              <a:t>Exce</a:t>
            </a:r>
            <a:r>
              <a:rPr lang="en-US" sz="1600">
                <a:solidFill>
                  <a:srgbClr val="000000"/>
                </a:solidFill>
                <a:latin typeface="Montserrat"/>
                <a:ea typeface="Montserrat"/>
                <a:cs typeface="Montserrat"/>
                <a:sym typeface="Montserrat"/>
              </a:rPr>
              <a:t>llentes performances prédictives</a:t>
            </a:r>
          </a:p>
        </p:txBody>
      </p:sp>
      <p:sp>
        <p:nvSpPr>
          <p:cNvPr name="TextBox 16" id="16"/>
          <p:cNvSpPr txBox="true"/>
          <p:nvPr/>
        </p:nvSpPr>
        <p:spPr>
          <a:xfrm rot="0">
            <a:off x="5574673" y="5820411"/>
            <a:ext cx="2562208" cy="251460"/>
          </a:xfrm>
          <a:prstGeom prst="rect">
            <a:avLst/>
          </a:prstGeom>
        </p:spPr>
        <p:txBody>
          <a:bodyPr anchor="t" rtlCol="false" tIns="0" lIns="0" bIns="0" rIns="0">
            <a:spAutoFit/>
          </a:bodyPr>
          <a:lstStyle/>
          <a:p>
            <a:pPr algn="l" marL="0" indent="0" lvl="0">
              <a:lnSpc>
                <a:spcPts val="1890"/>
              </a:lnSpc>
            </a:pPr>
            <a:r>
              <a:rPr lang="en-US" sz="2100">
                <a:solidFill>
                  <a:srgbClr val="000000"/>
                </a:solidFill>
                <a:latin typeface="Montserrat"/>
                <a:ea typeface="Montserrat"/>
                <a:cs typeface="Montserrat"/>
                <a:sym typeface="Montserrat"/>
              </a:rPr>
              <a:t>Résultats</a:t>
            </a:r>
          </a:p>
        </p:txBody>
      </p:sp>
      <p:grpSp>
        <p:nvGrpSpPr>
          <p:cNvPr name="Group 17" id="17"/>
          <p:cNvGrpSpPr/>
          <p:nvPr/>
        </p:nvGrpSpPr>
        <p:grpSpPr>
          <a:xfrm rot="0">
            <a:off x="5481585" y="2532347"/>
            <a:ext cx="3786409" cy="3081253"/>
            <a:chOff x="0" y="0"/>
            <a:chExt cx="745587" cy="606734"/>
          </a:xfrm>
        </p:grpSpPr>
        <p:sp>
          <p:nvSpPr>
            <p:cNvPr name="Freeform 18" id="18"/>
            <p:cNvSpPr/>
            <p:nvPr/>
          </p:nvSpPr>
          <p:spPr>
            <a:xfrm flipH="false" flipV="false" rot="0">
              <a:off x="0" y="0"/>
              <a:ext cx="745587" cy="606734"/>
            </a:xfrm>
            <a:custGeom>
              <a:avLst/>
              <a:gdLst/>
              <a:ahLst/>
              <a:cxnLst/>
              <a:rect r="r" b="b" t="t" l="l"/>
              <a:pathLst>
                <a:path h="606734" w="745587">
                  <a:moveTo>
                    <a:pt x="81786" y="0"/>
                  </a:moveTo>
                  <a:lnTo>
                    <a:pt x="663800" y="0"/>
                  </a:lnTo>
                  <a:cubicBezTo>
                    <a:pt x="685491" y="0"/>
                    <a:pt x="706294" y="8617"/>
                    <a:pt x="721632" y="23955"/>
                  </a:cubicBezTo>
                  <a:cubicBezTo>
                    <a:pt x="736970" y="39293"/>
                    <a:pt x="745587" y="60095"/>
                    <a:pt x="745587" y="81786"/>
                  </a:cubicBezTo>
                  <a:lnTo>
                    <a:pt x="745587" y="524947"/>
                  </a:lnTo>
                  <a:cubicBezTo>
                    <a:pt x="745587" y="546638"/>
                    <a:pt x="736970" y="567441"/>
                    <a:pt x="721632" y="582779"/>
                  </a:cubicBezTo>
                  <a:cubicBezTo>
                    <a:pt x="706294" y="598117"/>
                    <a:pt x="685491" y="606734"/>
                    <a:pt x="663800" y="606734"/>
                  </a:cubicBezTo>
                  <a:lnTo>
                    <a:pt x="81786" y="606734"/>
                  </a:lnTo>
                  <a:cubicBezTo>
                    <a:pt x="60095" y="606734"/>
                    <a:pt x="39293" y="598117"/>
                    <a:pt x="23955" y="582779"/>
                  </a:cubicBezTo>
                  <a:cubicBezTo>
                    <a:pt x="8617" y="567441"/>
                    <a:pt x="0" y="546638"/>
                    <a:pt x="0" y="524947"/>
                  </a:cubicBezTo>
                  <a:lnTo>
                    <a:pt x="0" y="81786"/>
                  </a:lnTo>
                  <a:cubicBezTo>
                    <a:pt x="0" y="60095"/>
                    <a:pt x="8617" y="39293"/>
                    <a:pt x="23955" y="23955"/>
                  </a:cubicBezTo>
                  <a:cubicBezTo>
                    <a:pt x="39293" y="8617"/>
                    <a:pt x="60095" y="0"/>
                    <a:pt x="81786" y="0"/>
                  </a:cubicBezTo>
                  <a:close/>
                </a:path>
              </a:pathLst>
            </a:custGeom>
            <a:blipFill>
              <a:blip r:embed="rId6"/>
              <a:stretch>
                <a:fillRect l="-557" t="0" r="-557"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979680" y="1835665"/>
            <a:ext cx="4169090" cy="834210"/>
          </a:xfrm>
          <a:custGeom>
            <a:avLst/>
            <a:gdLst/>
            <a:ahLst/>
            <a:cxnLst/>
            <a:rect r="r" b="b" t="t" l="l"/>
            <a:pathLst>
              <a:path h="834210" w="4169090">
                <a:moveTo>
                  <a:pt x="0" y="0"/>
                </a:moveTo>
                <a:lnTo>
                  <a:pt x="4169090" y="0"/>
                </a:lnTo>
                <a:lnTo>
                  <a:pt x="4169090" y="834210"/>
                </a:lnTo>
                <a:lnTo>
                  <a:pt x="0" y="834210"/>
                </a:lnTo>
                <a:lnTo>
                  <a:pt x="0" y="0"/>
                </a:lnTo>
                <a:close/>
              </a:path>
            </a:pathLst>
          </a:custGeom>
          <a:blipFill>
            <a:blip r:embed="rId2">
              <a:extLst>
                <a:ext uri="{96DAC541-7B7A-43D3-8B79-37D633B846F1}">
                  <asvg:svgBlip xmlns:asvg="http://schemas.microsoft.com/office/drawing/2016/SVG/main" r:embed="rId3"/>
                </a:ext>
              </a:extLst>
            </a:blip>
            <a:stretch>
              <a:fillRect l="-66014" t="0" r="-67935" b="-276950"/>
            </a:stretch>
          </a:blipFill>
        </p:spPr>
      </p:sp>
      <p:grpSp>
        <p:nvGrpSpPr>
          <p:cNvPr name="Group 3" id="3"/>
          <p:cNvGrpSpPr/>
          <p:nvPr/>
        </p:nvGrpSpPr>
        <p:grpSpPr>
          <a:xfrm rot="0">
            <a:off x="731520" y="2950935"/>
            <a:ext cx="4414069" cy="3418315"/>
            <a:chOff x="0" y="0"/>
            <a:chExt cx="1634840" cy="1266043"/>
          </a:xfrm>
        </p:grpSpPr>
        <p:sp>
          <p:nvSpPr>
            <p:cNvPr name="Freeform 4" id="4"/>
            <p:cNvSpPr/>
            <p:nvPr/>
          </p:nvSpPr>
          <p:spPr>
            <a:xfrm flipH="false" flipV="false" rot="0">
              <a:off x="0" y="0"/>
              <a:ext cx="1634840" cy="1266043"/>
            </a:xfrm>
            <a:custGeom>
              <a:avLst/>
              <a:gdLst/>
              <a:ahLst/>
              <a:cxnLst/>
              <a:rect r="r" b="b" t="t" l="l"/>
              <a:pathLst>
                <a:path h="1266043" w="1634840">
                  <a:moveTo>
                    <a:pt x="63141" y="0"/>
                  </a:moveTo>
                  <a:lnTo>
                    <a:pt x="1571699" y="0"/>
                  </a:lnTo>
                  <a:cubicBezTo>
                    <a:pt x="1588445" y="0"/>
                    <a:pt x="1604505" y="6652"/>
                    <a:pt x="1616347" y="18494"/>
                  </a:cubicBezTo>
                  <a:cubicBezTo>
                    <a:pt x="1628188" y="30335"/>
                    <a:pt x="1634840" y="46395"/>
                    <a:pt x="1634840" y="63141"/>
                  </a:cubicBezTo>
                  <a:lnTo>
                    <a:pt x="1634840" y="1202902"/>
                  </a:lnTo>
                  <a:cubicBezTo>
                    <a:pt x="1634840" y="1219648"/>
                    <a:pt x="1628188" y="1235708"/>
                    <a:pt x="1616347" y="1247549"/>
                  </a:cubicBezTo>
                  <a:cubicBezTo>
                    <a:pt x="1604505" y="1259390"/>
                    <a:pt x="1588445" y="1266043"/>
                    <a:pt x="1571699" y="1266043"/>
                  </a:cubicBezTo>
                  <a:lnTo>
                    <a:pt x="63141" y="1266043"/>
                  </a:lnTo>
                  <a:cubicBezTo>
                    <a:pt x="46395" y="1266043"/>
                    <a:pt x="30335" y="1259390"/>
                    <a:pt x="18494" y="1247549"/>
                  </a:cubicBezTo>
                  <a:cubicBezTo>
                    <a:pt x="6652" y="1235708"/>
                    <a:pt x="0" y="1219648"/>
                    <a:pt x="0" y="1202902"/>
                  </a:cubicBezTo>
                  <a:lnTo>
                    <a:pt x="0" y="63141"/>
                  </a:lnTo>
                  <a:cubicBezTo>
                    <a:pt x="0" y="46395"/>
                    <a:pt x="6652" y="30335"/>
                    <a:pt x="18494" y="18494"/>
                  </a:cubicBezTo>
                  <a:cubicBezTo>
                    <a:pt x="30335" y="6652"/>
                    <a:pt x="46395" y="0"/>
                    <a:pt x="63141" y="0"/>
                  </a:cubicBezTo>
                  <a:close/>
                </a:path>
              </a:pathLst>
            </a:custGeom>
            <a:solidFill>
              <a:srgbClr val="2B4CC0"/>
            </a:solidFill>
          </p:spPr>
        </p:sp>
        <p:sp>
          <p:nvSpPr>
            <p:cNvPr name="TextBox 5" id="5"/>
            <p:cNvSpPr txBox="true"/>
            <p:nvPr/>
          </p:nvSpPr>
          <p:spPr>
            <a:xfrm>
              <a:off x="0" y="47625"/>
              <a:ext cx="1634840" cy="1218418"/>
            </a:xfrm>
            <a:prstGeom prst="rect">
              <a:avLst/>
            </a:prstGeom>
          </p:spPr>
          <p:txBody>
            <a:bodyPr anchor="ctr" rtlCol="false" tIns="50800" lIns="50800" bIns="50800" rIns="50800"/>
            <a:lstStyle/>
            <a:p>
              <a:pPr algn="ctr">
                <a:lnSpc>
                  <a:spcPts val="1709"/>
                </a:lnSpc>
              </a:pPr>
            </a:p>
          </p:txBody>
        </p:sp>
      </p:grpSp>
      <p:sp>
        <p:nvSpPr>
          <p:cNvPr name="TextBox 6" id="6"/>
          <p:cNvSpPr txBox="true"/>
          <p:nvPr/>
        </p:nvSpPr>
        <p:spPr>
          <a:xfrm rot="0">
            <a:off x="1262956" y="1064050"/>
            <a:ext cx="6468105" cy="1007745"/>
          </a:xfrm>
          <a:prstGeom prst="rect">
            <a:avLst/>
          </a:prstGeom>
        </p:spPr>
        <p:txBody>
          <a:bodyPr anchor="t" rtlCol="false" tIns="0" lIns="0" bIns="0" rIns="0">
            <a:spAutoFit/>
          </a:bodyPr>
          <a:lstStyle/>
          <a:p>
            <a:pPr algn="l" marL="0" indent="0" lvl="0">
              <a:lnSpc>
                <a:spcPts val="3780"/>
              </a:lnSpc>
            </a:pPr>
            <a:r>
              <a:rPr lang="en-US" sz="4200">
                <a:solidFill>
                  <a:srgbClr val="1F3685"/>
                </a:solidFill>
                <a:latin typeface="Archivo Black"/>
                <a:ea typeface="Archivo Black"/>
                <a:cs typeface="Archivo Black"/>
                <a:sym typeface="Archivo Black"/>
              </a:rPr>
              <a:t>MODÈLE 4 : (SVR / KNN / AUTRE)</a:t>
            </a:r>
          </a:p>
        </p:txBody>
      </p:sp>
      <p:grpSp>
        <p:nvGrpSpPr>
          <p:cNvPr name="Group 7" id="7"/>
          <p:cNvGrpSpPr/>
          <p:nvPr/>
        </p:nvGrpSpPr>
        <p:grpSpPr>
          <a:xfrm rot="0">
            <a:off x="7631981" y="-658579"/>
            <a:ext cx="2780198" cy="278019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9" id="9"/>
            <p:cNvSpPr txBox="true"/>
            <p:nvPr/>
          </p:nvSpPr>
          <p:spPr>
            <a:xfrm>
              <a:off x="76200" y="123825"/>
              <a:ext cx="660400" cy="612775"/>
            </a:xfrm>
            <a:prstGeom prst="rect">
              <a:avLst/>
            </a:prstGeom>
          </p:spPr>
          <p:txBody>
            <a:bodyPr anchor="ctr" rtlCol="false" tIns="50800" lIns="50800" bIns="50800" rIns="50800"/>
            <a:lstStyle/>
            <a:p>
              <a:pPr algn="ctr">
                <a:lnSpc>
                  <a:spcPts val="1620"/>
                </a:lnSpc>
              </a:pPr>
            </a:p>
          </p:txBody>
        </p:sp>
      </p:grpSp>
      <p:sp>
        <p:nvSpPr>
          <p:cNvPr name="Freeform 10" id="10"/>
          <p:cNvSpPr/>
          <p:nvPr/>
        </p:nvSpPr>
        <p:spPr>
          <a:xfrm flipH="false" flipV="false" rot="0">
            <a:off x="7631981" y="1242969"/>
            <a:ext cx="1009800" cy="1009800"/>
          </a:xfrm>
          <a:custGeom>
            <a:avLst/>
            <a:gdLst/>
            <a:ahLst/>
            <a:cxnLst/>
            <a:rect r="r" b="b" t="t" l="l"/>
            <a:pathLst>
              <a:path h="1009800" w="1009800">
                <a:moveTo>
                  <a:pt x="0" y="0"/>
                </a:moveTo>
                <a:lnTo>
                  <a:pt x="1009800" y="0"/>
                </a:lnTo>
                <a:lnTo>
                  <a:pt x="1009800" y="1009801"/>
                </a:lnTo>
                <a:lnTo>
                  <a:pt x="0" y="10098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0" y="6920028"/>
            <a:ext cx="9753600" cy="898183"/>
            <a:chOff x="0" y="0"/>
            <a:chExt cx="3612444" cy="332660"/>
          </a:xfrm>
        </p:grpSpPr>
        <p:sp>
          <p:nvSpPr>
            <p:cNvPr name="Freeform 12" id="12"/>
            <p:cNvSpPr/>
            <p:nvPr/>
          </p:nvSpPr>
          <p:spPr>
            <a:xfrm flipH="false" flipV="false" rot="0">
              <a:off x="0" y="0"/>
              <a:ext cx="3612445" cy="332660"/>
            </a:xfrm>
            <a:custGeom>
              <a:avLst/>
              <a:gdLst/>
              <a:ahLst/>
              <a:cxnLst/>
              <a:rect r="r" b="b" t="t" l="l"/>
              <a:pathLst>
                <a:path h="332660" w="3612445">
                  <a:moveTo>
                    <a:pt x="79375" y="0"/>
                  </a:moveTo>
                  <a:lnTo>
                    <a:pt x="3533070" y="0"/>
                  </a:lnTo>
                  <a:cubicBezTo>
                    <a:pt x="3554121" y="0"/>
                    <a:pt x="3574311" y="8363"/>
                    <a:pt x="3589196" y="23248"/>
                  </a:cubicBezTo>
                  <a:cubicBezTo>
                    <a:pt x="3604082" y="38134"/>
                    <a:pt x="3612445" y="58323"/>
                    <a:pt x="3612445" y="79375"/>
                  </a:cubicBezTo>
                  <a:lnTo>
                    <a:pt x="3612445" y="253285"/>
                  </a:lnTo>
                  <a:cubicBezTo>
                    <a:pt x="3612445" y="274337"/>
                    <a:pt x="3604082" y="294526"/>
                    <a:pt x="3589196" y="309412"/>
                  </a:cubicBezTo>
                  <a:cubicBezTo>
                    <a:pt x="3574311" y="324298"/>
                    <a:pt x="3554121" y="332660"/>
                    <a:pt x="3533070" y="332660"/>
                  </a:cubicBezTo>
                  <a:lnTo>
                    <a:pt x="79375" y="332660"/>
                  </a:lnTo>
                  <a:cubicBezTo>
                    <a:pt x="35537" y="332660"/>
                    <a:pt x="0" y="297123"/>
                    <a:pt x="0" y="253285"/>
                  </a:cubicBezTo>
                  <a:lnTo>
                    <a:pt x="0" y="79375"/>
                  </a:lnTo>
                  <a:cubicBezTo>
                    <a:pt x="0" y="35537"/>
                    <a:pt x="35537" y="0"/>
                    <a:pt x="79375" y="0"/>
                  </a:cubicBezTo>
                  <a:close/>
                </a:path>
              </a:pathLst>
            </a:custGeom>
            <a:solidFill>
              <a:srgbClr val="DFE9FF"/>
            </a:solidFill>
          </p:spPr>
        </p:sp>
        <p:sp>
          <p:nvSpPr>
            <p:cNvPr name="TextBox 13" id="13"/>
            <p:cNvSpPr txBox="true"/>
            <p:nvPr/>
          </p:nvSpPr>
          <p:spPr>
            <a:xfrm>
              <a:off x="0" y="47625"/>
              <a:ext cx="3612444" cy="285035"/>
            </a:xfrm>
            <a:prstGeom prst="rect">
              <a:avLst/>
            </a:prstGeom>
          </p:spPr>
          <p:txBody>
            <a:bodyPr anchor="ctr" rtlCol="false" tIns="50800" lIns="50800" bIns="50800" rIns="50800"/>
            <a:lstStyle/>
            <a:p>
              <a:pPr algn="ctr">
                <a:lnSpc>
                  <a:spcPts val="1620"/>
                </a:lnSpc>
              </a:pPr>
            </a:p>
          </p:txBody>
        </p:sp>
      </p:grpSp>
      <p:grpSp>
        <p:nvGrpSpPr>
          <p:cNvPr name="Group 14" id="14"/>
          <p:cNvGrpSpPr/>
          <p:nvPr/>
        </p:nvGrpSpPr>
        <p:grpSpPr>
          <a:xfrm rot="0">
            <a:off x="5145589" y="3022595"/>
            <a:ext cx="4389328" cy="1961315"/>
            <a:chOff x="0" y="0"/>
            <a:chExt cx="1411200" cy="630577"/>
          </a:xfrm>
        </p:grpSpPr>
        <p:sp>
          <p:nvSpPr>
            <p:cNvPr name="Freeform 15" id="15"/>
            <p:cNvSpPr/>
            <p:nvPr/>
          </p:nvSpPr>
          <p:spPr>
            <a:xfrm flipH="false" flipV="false" rot="0">
              <a:off x="0" y="0"/>
              <a:ext cx="1411200" cy="630577"/>
            </a:xfrm>
            <a:custGeom>
              <a:avLst/>
              <a:gdLst/>
              <a:ahLst/>
              <a:cxnLst/>
              <a:rect r="r" b="b" t="t" l="l"/>
              <a:pathLst>
                <a:path h="630577" w="1411200">
                  <a:moveTo>
                    <a:pt x="70552" y="0"/>
                  </a:moveTo>
                  <a:lnTo>
                    <a:pt x="1340648" y="0"/>
                  </a:lnTo>
                  <a:cubicBezTo>
                    <a:pt x="1359359" y="0"/>
                    <a:pt x="1377305" y="7433"/>
                    <a:pt x="1390536" y="20664"/>
                  </a:cubicBezTo>
                  <a:cubicBezTo>
                    <a:pt x="1403767" y="33895"/>
                    <a:pt x="1411200" y="51841"/>
                    <a:pt x="1411200" y="70552"/>
                  </a:cubicBezTo>
                  <a:lnTo>
                    <a:pt x="1411200" y="560024"/>
                  </a:lnTo>
                  <a:cubicBezTo>
                    <a:pt x="1411200" y="578736"/>
                    <a:pt x="1403767" y="596681"/>
                    <a:pt x="1390536" y="609912"/>
                  </a:cubicBezTo>
                  <a:cubicBezTo>
                    <a:pt x="1377305" y="623143"/>
                    <a:pt x="1359359" y="630577"/>
                    <a:pt x="1340648" y="630577"/>
                  </a:cubicBezTo>
                  <a:lnTo>
                    <a:pt x="70552" y="630577"/>
                  </a:lnTo>
                  <a:cubicBezTo>
                    <a:pt x="51841" y="630577"/>
                    <a:pt x="33895" y="623143"/>
                    <a:pt x="20664" y="609912"/>
                  </a:cubicBezTo>
                  <a:cubicBezTo>
                    <a:pt x="7433" y="596681"/>
                    <a:pt x="0" y="578736"/>
                    <a:pt x="0" y="560024"/>
                  </a:cubicBezTo>
                  <a:lnTo>
                    <a:pt x="0" y="70552"/>
                  </a:lnTo>
                  <a:cubicBezTo>
                    <a:pt x="0" y="51841"/>
                    <a:pt x="7433" y="33895"/>
                    <a:pt x="20664" y="20664"/>
                  </a:cubicBezTo>
                  <a:cubicBezTo>
                    <a:pt x="33895" y="7433"/>
                    <a:pt x="51841" y="0"/>
                    <a:pt x="70552" y="0"/>
                  </a:cubicBezTo>
                  <a:close/>
                </a:path>
              </a:pathLst>
            </a:custGeom>
            <a:blipFill>
              <a:blip r:embed="rId6"/>
              <a:stretch>
                <a:fillRect l="0" t="-262" r="0" b="-262"/>
              </a:stretch>
            </a:blipFill>
          </p:spPr>
        </p:sp>
      </p:grpSp>
      <p:sp>
        <p:nvSpPr>
          <p:cNvPr name="TextBox 16" id="16"/>
          <p:cNvSpPr txBox="true"/>
          <p:nvPr/>
        </p:nvSpPr>
        <p:spPr>
          <a:xfrm rot="0">
            <a:off x="1099570" y="3420946"/>
            <a:ext cx="3922668" cy="1878330"/>
          </a:xfrm>
          <a:prstGeom prst="rect">
            <a:avLst/>
          </a:prstGeom>
        </p:spPr>
        <p:txBody>
          <a:bodyPr anchor="t" rtlCol="false" tIns="0" lIns="0" bIns="0" rIns="0">
            <a:spAutoFit/>
          </a:bodyPr>
          <a:lstStyle/>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Modèle basé sur la similarité des données</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Sensible à la normalisation</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Ut</a:t>
            </a:r>
            <a:r>
              <a:rPr lang="en-US" sz="1800">
                <a:solidFill>
                  <a:srgbClr val="FFFFFF"/>
                </a:solidFill>
                <a:latin typeface="Montserrat"/>
                <a:ea typeface="Montserrat"/>
                <a:cs typeface="Montserrat"/>
                <a:sym typeface="Montserrat"/>
              </a:rPr>
              <a:t>ilisé pour comparaison</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Perf</a:t>
            </a:r>
            <a:r>
              <a:rPr lang="en-US" sz="1800">
                <a:solidFill>
                  <a:srgbClr val="FFFFFF"/>
                </a:solidFill>
                <a:latin typeface="Montserrat"/>
                <a:ea typeface="Montserrat"/>
                <a:cs typeface="Montserrat"/>
                <a:sym typeface="Montserrat"/>
              </a:rPr>
              <a:t>ormances correctes</a:t>
            </a:r>
          </a:p>
          <a:p>
            <a:pPr algn="l">
              <a:lnSpc>
                <a:spcPts val="2520"/>
              </a:lnSpc>
            </a:pPr>
          </a:p>
        </p:txBody>
      </p:sp>
      <p:sp>
        <p:nvSpPr>
          <p:cNvPr name="TextBox 17" id="17"/>
          <p:cNvSpPr txBox="true"/>
          <p:nvPr/>
        </p:nvSpPr>
        <p:spPr>
          <a:xfrm rot="0">
            <a:off x="5470664" y="5828866"/>
            <a:ext cx="3617099" cy="540384"/>
          </a:xfrm>
          <a:prstGeom prst="rect">
            <a:avLst/>
          </a:prstGeom>
        </p:spPr>
        <p:txBody>
          <a:bodyPr anchor="t" rtlCol="false" tIns="0" lIns="0" bIns="0" rIns="0">
            <a:spAutoFit/>
          </a:bodyPr>
          <a:lstStyle/>
          <a:p>
            <a:pPr algn="l">
              <a:lnSpc>
                <a:spcPts val="2240"/>
              </a:lnSpc>
            </a:pPr>
            <a:r>
              <a:rPr lang="en-US" sz="1600">
                <a:solidFill>
                  <a:srgbClr val="000000"/>
                </a:solidFill>
                <a:latin typeface="Montserrat"/>
                <a:ea typeface="Montserrat"/>
                <a:cs typeface="Montserrat"/>
                <a:sym typeface="Montserrat"/>
              </a:rPr>
              <a:t>Moi</a:t>
            </a:r>
            <a:r>
              <a:rPr lang="en-US" sz="1600">
                <a:solidFill>
                  <a:srgbClr val="000000"/>
                </a:solidFill>
                <a:latin typeface="Montserrat"/>
                <a:ea typeface="Montserrat"/>
                <a:cs typeface="Montserrat"/>
                <a:sym typeface="Montserrat"/>
              </a:rPr>
              <a:t>ns performant que les modèles d’ensemble</a:t>
            </a:r>
          </a:p>
        </p:txBody>
      </p:sp>
      <p:sp>
        <p:nvSpPr>
          <p:cNvPr name="TextBox 18" id="18"/>
          <p:cNvSpPr txBox="true"/>
          <p:nvPr/>
        </p:nvSpPr>
        <p:spPr>
          <a:xfrm rot="0">
            <a:off x="5470664" y="5435498"/>
            <a:ext cx="2562208" cy="251460"/>
          </a:xfrm>
          <a:prstGeom prst="rect">
            <a:avLst/>
          </a:prstGeom>
        </p:spPr>
        <p:txBody>
          <a:bodyPr anchor="t" rtlCol="false" tIns="0" lIns="0" bIns="0" rIns="0">
            <a:spAutoFit/>
          </a:bodyPr>
          <a:lstStyle/>
          <a:p>
            <a:pPr algn="l" marL="0" indent="0" lvl="0">
              <a:lnSpc>
                <a:spcPts val="1890"/>
              </a:lnSpc>
            </a:pPr>
            <a:r>
              <a:rPr lang="en-US" sz="2100">
                <a:solidFill>
                  <a:srgbClr val="000000"/>
                </a:solidFill>
                <a:latin typeface="Montserrat"/>
                <a:ea typeface="Montserrat"/>
                <a:cs typeface="Montserrat"/>
                <a:sym typeface="Montserrat"/>
              </a:rPr>
              <a:t>Résultats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979680" y="1835665"/>
            <a:ext cx="4169090" cy="834210"/>
          </a:xfrm>
          <a:custGeom>
            <a:avLst/>
            <a:gdLst/>
            <a:ahLst/>
            <a:cxnLst/>
            <a:rect r="r" b="b" t="t" l="l"/>
            <a:pathLst>
              <a:path h="834210" w="4169090">
                <a:moveTo>
                  <a:pt x="0" y="0"/>
                </a:moveTo>
                <a:lnTo>
                  <a:pt x="4169090" y="0"/>
                </a:lnTo>
                <a:lnTo>
                  <a:pt x="4169090" y="834210"/>
                </a:lnTo>
                <a:lnTo>
                  <a:pt x="0" y="834210"/>
                </a:lnTo>
                <a:lnTo>
                  <a:pt x="0" y="0"/>
                </a:lnTo>
                <a:close/>
              </a:path>
            </a:pathLst>
          </a:custGeom>
          <a:blipFill>
            <a:blip r:embed="rId2">
              <a:extLst>
                <a:ext uri="{96DAC541-7B7A-43D3-8B79-37D633B846F1}">
                  <asvg:svgBlip xmlns:asvg="http://schemas.microsoft.com/office/drawing/2016/SVG/main" r:embed="rId3"/>
                </a:ext>
              </a:extLst>
            </a:blip>
            <a:stretch>
              <a:fillRect l="-66014" t="0" r="-67935" b="-276950"/>
            </a:stretch>
          </a:blipFill>
        </p:spPr>
      </p:sp>
      <p:sp>
        <p:nvSpPr>
          <p:cNvPr name="TextBox 3" id="3"/>
          <p:cNvSpPr txBox="true"/>
          <p:nvPr/>
        </p:nvSpPr>
        <p:spPr>
          <a:xfrm rot="0">
            <a:off x="1110556" y="1064050"/>
            <a:ext cx="6048002" cy="1007745"/>
          </a:xfrm>
          <a:prstGeom prst="rect">
            <a:avLst/>
          </a:prstGeom>
        </p:spPr>
        <p:txBody>
          <a:bodyPr anchor="t" rtlCol="false" tIns="0" lIns="0" bIns="0" rIns="0">
            <a:spAutoFit/>
          </a:bodyPr>
          <a:lstStyle/>
          <a:p>
            <a:pPr algn="l" marL="0" indent="0" lvl="0">
              <a:lnSpc>
                <a:spcPts val="3780"/>
              </a:lnSpc>
            </a:pPr>
            <a:r>
              <a:rPr lang="en-US" sz="4200">
                <a:solidFill>
                  <a:srgbClr val="1F3685"/>
                </a:solidFill>
                <a:latin typeface="Archivo Black"/>
                <a:ea typeface="Archivo Black"/>
                <a:cs typeface="Archivo Black"/>
                <a:sym typeface="Archivo Black"/>
              </a:rPr>
              <a:t>COMPARAISON DES MODÈLES</a:t>
            </a:r>
          </a:p>
        </p:txBody>
      </p:sp>
      <p:grpSp>
        <p:nvGrpSpPr>
          <p:cNvPr name="Group 4" id="4"/>
          <p:cNvGrpSpPr/>
          <p:nvPr/>
        </p:nvGrpSpPr>
        <p:grpSpPr>
          <a:xfrm rot="0">
            <a:off x="7631981" y="-658579"/>
            <a:ext cx="2780198" cy="278019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6" id="6"/>
            <p:cNvSpPr txBox="true"/>
            <p:nvPr/>
          </p:nvSpPr>
          <p:spPr>
            <a:xfrm>
              <a:off x="76200" y="123825"/>
              <a:ext cx="660400" cy="612775"/>
            </a:xfrm>
            <a:prstGeom prst="rect">
              <a:avLst/>
            </a:prstGeom>
          </p:spPr>
          <p:txBody>
            <a:bodyPr anchor="ctr" rtlCol="false" tIns="50800" lIns="50800" bIns="50800" rIns="50800"/>
            <a:lstStyle/>
            <a:p>
              <a:pPr algn="ctr">
                <a:lnSpc>
                  <a:spcPts val="1620"/>
                </a:lnSpc>
              </a:pPr>
            </a:p>
          </p:txBody>
        </p:sp>
      </p:grpSp>
      <p:sp>
        <p:nvSpPr>
          <p:cNvPr name="Freeform 7" id="7"/>
          <p:cNvSpPr/>
          <p:nvPr/>
        </p:nvSpPr>
        <p:spPr>
          <a:xfrm flipH="false" flipV="false" rot="0">
            <a:off x="7631981" y="1242969"/>
            <a:ext cx="1009800" cy="1009800"/>
          </a:xfrm>
          <a:custGeom>
            <a:avLst/>
            <a:gdLst/>
            <a:ahLst/>
            <a:cxnLst/>
            <a:rect r="r" b="b" t="t" l="l"/>
            <a:pathLst>
              <a:path h="1009800" w="1009800">
                <a:moveTo>
                  <a:pt x="0" y="0"/>
                </a:moveTo>
                <a:lnTo>
                  <a:pt x="1009800" y="0"/>
                </a:lnTo>
                <a:lnTo>
                  <a:pt x="1009800" y="1009801"/>
                </a:lnTo>
                <a:lnTo>
                  <a:pt x="0" y="10098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921670" y="2423533"/>
            <a:ext cx="7910261" cy="3090361"/>
            <a:chOff x="0" y="0"/>
            <a:chExt cx="2929726" cy="1144578"/>
          </a:xfrm>
        </p:grpSpPr>
        <p:sp>
          <p:nvSpPr>
            <p:cNvPr name="Freeform 9" id="9"/>
            <p:cNvSpPr/>
            <p:nvPr/>
          </p:nvSpPr>
          <p:spPr>
            <a:xfrm flipH="false" flipV="false" rot="0">
              <a:off x="0" y="0"/>
              <a:ext cx="2929726" cy="1144578"/>
            </a:xfrm>
            <a:custGeom>
              <a:avLst/>
              <a:gdLst/>
              <a:ahLst/>
              <a:cxnLst/>
              <a:rect r="r" b="b" t="t" l="l"/>
              <a:pathLst>
                <a:path h="1144578" w="2929726">
                  <a:moveTo>
                    <a:pt x="35234" y="0"/>
                  </a:moveTo>
                  <a:lnTo>
                    <a:pt x="2894492" y="0"/>
                  </a:lnTo>
                  <a:cubicBezTo>
                    <a:pt x="2903837" y="0"/>
                    <a:pt x="2912799" y="3712"/>
                    <a:pt x="2919406" y="10320"/>
                  </a:cubicBezTo>
                  <a:cubicBezTo>
                    <a:pt x="2926014" y="16927"/>
                    <a:pt x="2929726" y="25889"/>
                    <a:pt x="2929726" y="35234"/>
                  </a:cubicBezTo>
                  <a:lnTo>
                    <a:pt x="2929726" y="1109344"/>
                  </a:lnTo>
                  <a:cubicBezTo>
                    <a:pt x="2929726" y="1118689"/>
                    <a:pt x="2926014" y="1127651"/>
                    <a:pt x="2919406" y="1134258"/>
                  </a:cubicBezTo>
                  <a:cubicBezTo>
                    <a:pt x="2912799" y="1140866"/>
                    <a:pt x="2903837" y="1144578"/>
                    <a:pt x="2894492" y="1144578"/>
                  </a:cubicBezTo>
                  <a:lnTo>
                    <a:pt x="35234" y="1144578"/>
                  </a:lnTo>
                  <a:cubicBezTo>
                    <a:pt x="25889" y="1144578"/>
                    <a:pt x="16927" y="1140866"/>
                    <a:pt x="10320" y="1134258"/>
                  </a:cubicBezTo>
                  <a:cubicBezTo>
                    <a:pt x="3712" y="1127651"/>
                    <a:pt x="0" y="1118689"/>
                    <a:pt x="0" y="1109344"/>
                  </a:cubicBezTo>
                  <a:lnTo>
                    <a:pt x="0" y="35234"/>
                  </a:lnTo>
                  <a:cubicBezTo>
                    <a:pt x="0" y="25889"/>
                    <a:pt x="3712" y="16927"/>
                    <a:pt x="10320" y="10320"/>
                  </a:cubicBezTo>
                  <a:cubicBezTo>
                    <a:pt x="16927" y="3712"/>
                    <a:pt x="25889" y="0"/>
                    <a:pt x="35234" y="0"/>
                  </a:cubicBezTo>
                  <a:close/>
                </a:path>
              </a:pathLst>
            </a:custGeom>
            <a:solidFill>
              <a:srgbClr val="2B4CC0"/>
            </a:solidFill>
          </p:spPr>
        </p:sp>
        <p:sp>
          <p:nvSpPr>
            <p:cNvPr name="TextBox 10" id="10"/>
            <p:cNvSpPr txBox="true"/>
            <p:nvPr/>
          </p:nvSpPr>
          <p:spPr>
            <a:xfrm>
              <a:off x="0" y="47625"/>
              <a:ext cx="2929726" cy="1096953"/>
            </a:xfrm>
            <a:prstGeom prst="rect">
              <a:avLst/>
            </a:prstGeom>
          </p:spPr>
          <p:txBody>
            <a:bodyPr anchor="ctr" rtlCol="false" tIns="50800" lIns="50800" bIns="50800" rIns="50800"/>
            <a:lstStyle/>
            <a:p>
              <a:pPr algn="ctr">
                <a:lnSpc>
                  <a:spcPts val="1620"/>
                </a:lnSpc>
              </a:pPr>
            </a:p>
          </p:txBody>
        </p:sp>
      </p:grpSp>
      <p:sp>
        <p:nvSpPr>
          <p:cNvPr name="TextBox 11" id="11"/>
          <p:cNvSpPr txBox="true"/>
          <p:nvPr/>
        </p:nvSpPr>
        <p:spPr>
          <a:xfrm rot="0">
            <a:off x="1380557" y="2539011"/>
            <a:ext cx="6533756" cy="2821305"/>
          </a:xfrm>
          <a:prstGeom prst="rect">
            <a:avLst/>
          </a:prstGeom>
        </p:spPr>
        <p:txBody>
          <a:bodyPr anchor="t" rtlCol="false" tIns="0" lIns="0" bIns="0" rIns="0">
            <a:spAutoFit/>
          </a:bodyPr>
          <a:lstStyle/>
          <a:p>
            <a:pPr algn="l">
              <a:lnSpc>
                <a:spcPts val="2520"/>
              </a:lnSpc>
            </a:pPr>
            <a:r>
              <a:rPr lang="en-US" sz="1800">
                <a:solidFill>
                  <a:srgbClr val="FFFFFF"/>
                </a:solidFill>
                <a:latin typeface="Montserrat"/>
                <a:ea typeface="Montserrat"/>
                <a:cs typeface="Montserrat"/>
                <a:sym typeface="Montserrat"/>
              </a:rPr>
              <a:t>-Comparaison via :</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RMSE</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MAE</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R²</a:t>
            </a:r>
          </a:p>
          <a:p>
            <a:pPr algn="l">
              <a:lnSpc>
                <a:spcPts val="2520"/>
              </a:lnSpc>
            </a:pPr>
            <a:r>
              <a:rPr lang="en-US" sz="1800">
                <a:solidFill>
                  <a:srgbClr val="FFFFFF"/>
                </a:solidFill>
                <a:latin typeface="Montserrat"/>
                <a:ea typeface="Montserrat"/>
                <a:cs typeface="Montserrat"/>
                <a:sym typeface="Montserrat"/>
              </a:rPr>
              <a:t>-</a:t>
            </a:r>
            <a:r>
              <a:rPr lang="en-US" sz="1800">
                <a:solidFill>
                  <a:srgbClr val="FFFFFF"/>
                </a:solidFill>
                <a:latin typeface="Montserrat"/>
                <a:ea typeface="Montserrat"/>
                <a:cs typeface="Montserrat"/>
                <a:sym typeface="Montserrat"/>
              </a:rPr>
              <a:t>Tableau récapitulatif des performances</a:t>
            </a:r>
          </a:p>
          <a:p>
            <a:pPr algn="l">
              <a:lnSpc>
                <a:spcPts val="2520"/>
              </a:lnSpc>
            </a:pPr>
            <a:r>
              <a:rPr lang="en-US" sz="1800">
                <a:solidFill>
                  <a:srgbClr val="FFFFFF"/>
                </a:solidFill>
                <a:latin typeface="Montserrat"/>
                <a:ea typeface="Montserrat"/>
                <a:cs typeface="Montserrat"/>
                <a:sym typeface="Montserrat"/>
              </a:rPr>
              <a:t>-Analyse du compromis :</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précision</a:t>
            </a:r>
          </a:p>
          <a:p>
            <a:pPr algn="l" marL="388623" indent="-194312" lvl="1">
              <a:lnSpc>
                <a:spcPts val="2520"/>
              </a:lnSpc>
              <a:buFont typeface="Arial"/>
              <a:buChar char="•"/>
            </a:pPr>
            <a:r>
              <a:rPr lang="en-US" sz="1800">
                <a:solidFill>
                  <a:srgbClr val="FFFFFF"/>
                </a:solidFill>
                <a:latin typeface="Montserrat"/>
                <a:ea typeface="Montserrat"/>
                <a:cs typeface="Montserrat"/>
                <a:sym typeface="Montserrat"/>
              </a:rPr>
              <a:t>complexité</a:t>
            </a:r>
          </a:p>
          <a:p>
            <a:pPr algn="l">
              <a:lnSpc>
                <a:spcPts val="2520"/>
              </a:lnSpc>
            </a:pPr>
          </a:p>
        </p:txBody>
      </p:sp>
      <p:sp>
        <p:nvSpPr>
          <p:cNvPr name="TextBox 12" id="12"/>
          <p:cNvSpPr txBox="true"/>
          <p:nvPr/>
        </p:nvSpPr>
        <p:spPr>
          <a:xfrm rot="0">
            <a:off x="1223110" y="5666475"/>
            <a:ext cx="5563323" cy="1249680"/>
          </a:xfrm>
          <a:prstGeom prst="rect">
            <a:avLst/>
          </a:prstGeom>
        </p:spPr>
        <p:txBody>
          <a:bodyPr anchor="t" rtlCol="false" tIns="0" lIns="0" bIns="0" rIns="0">
            <a:spAutoFit/>
          </a:bodyPr>
          <a:lstStyle/>
          <a:p>
            <a:pPr algn="l">
              <a:lnSpc>
                <a:spcPts val="2520"/>
              </a:lnSpc>
            </a:pPr>
            <a:r>
              <a:rPr lang="en-US" sz="1800" b="true">
                <a:solidFill>
                  <a:srgbClr val="1F3685"/>
                </a:solidFill>
                <a:latin typeface="Montserrat Bold"/>
                <a:ea typeface="Montserrat Bold"/>
                <a:cs typeface="Montserrat Bold"/>
                <a:sym typeface="Montserrat Bold"/>
              </a:rPr>
              <a:t>Meilleur modèle</a:t>
            </a:r>
          </a:p>
          <a:p>
            <a:pPr algn="l" marL="388623" indent="-194312" lvl="1">
              <a:lnSpc>
                <a:spcPts val="2520"/>
              </a:lnSpc>
              <a:buFont typeface="Arial"/>
              <a:buChar char="•"/>
            </a:pPr>
            <a:r>
              <a:rPr lang="en-US" sz="1800">
                <a:solidFill>
                  <a:srgbClr val="000000"/>
                </a:solidFill>
                <a:latin typeface="Montserrat"/>
                <a:ea typeface="Montserrat"/>
                <a:cs typeface="Montserrat"/>
                <a:sym typeface="Montserrat"/>
              </a:rPr>
              <a:t>Régression Linéaire / Gradient Boosting (selon résultats)</a:t>
            </a:r>
          </a:p>
          <a:p>
            <a:pPr algn="l">
              <a:lnSpc>
                <a:spcPts val="252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31520" y="2226945"/>
            <a:ext cx="7806278" cy="1915530"/>
            <a:chOff x="0" y="0"/>
            <a:chExt cx="2891214" cy="709455"/>
          </a:xfrm>
        </p:grpSpPr>
        <p:sp>
          <p:nvSpPr>
            <p:cNvPr name="Freeform 3" id="3"/>
            <p:cNvSpPr/>
            <p:nvPr/>
          </p:nvSpPr>
          <p:spPr>
            <a:xfrm flipH="false" flipV="false" rot="0">
              <a:off x="0" y="0"/>
              <a:ext cx="2891214" cy="709455"/>
            </a:xfrm>
            <a:custGeom>
              <a:avLst/>
              <a:gdLst/>
              <a:ahLst/>
              <a:cxnLst/>
              <a:rect r="r" b="b" t="t" l="l"/>
              <a:pathLst>
                <a:path h="709455" w="2891214">
                  <a:moveTo>
                    <a:pt x="35703" y="0"/>
                  </a:moveTo>
                  <a:lnTo>
                    <a:pt x="2855511" y="0"/>
                  </a:lnTo>
                  <a:cubicBezTo>
                    <a:pt x="2864980" y="0"/>
                    <a:pt x="2874061" y="3762"/>
                    <a:pt x="2880757" y="10457"/>
                  </a:cubicBezTo>
                  <a:cubicBezTo>
                    <a:pt x="2887453" y="17153"/>
                    <a:pt x="2891214" y="26234"/>
                    <a:pt x="2891214" y="35703"/>
                  </a:cubicBezTo>
                  <a:lnTo>
                    <a:pt x="2891214" y="673752"/>
                  </a:lnTo>
                  <a:cubicBezTo>
                    <a:pt x="2891214" y="693471"/>
                    <a:pt x="2875229" y="709455"/>
                    <a:pt x="2855511" y="709455"/>
                  </a:cubicBezTo>
                  <a:lnTo>
                    <a:pt x="35703" y="709455"/>
                  </a:lnTo>
                  <a:cubicBezTo>
                    <a:pt x="15985" y="709455"/>
                    <a:pt x="0" y="693471"/>
                    <a:pt x="0" y="673752"/>
                  </a:cubicBezTo>
                  <a:lnTo>
                    <a:pt x="0" y="35703"/>
                  </a:lnTo>
                  <a:cubicBezTo>
                    <a:pt x="0" y="15985"/>
                    <a:pt x="15985" y="0"/>
                    <a:pt x="35703" y="0"/>
                  </a:cubicBezTo>
                  <a:close/>
                </a:path>
              </a:pathLst>
            </a:custGeom>
            <a:solidFill>
              <a:srgbClr val="2B4CC0"/>
            </a:solidFill>
          </p:spPr>
        </p:sp>
        <p:sp>
          <p:nvSpPr>
            <p:cNvPr name="TextBox 4" id="4"/>
            <p:cNvSpPr txBox="true"/>
            <p:nvPr/>
          </p:nvSpPr>
          <p:spPr>
            <a:xfrm>
              <a:off x="0" y="47625"/>
              <a:ext cx="2891214" cy="661830"/>
            </a:xfrm>
            <a:prstGeom prst="rect">
              <a:avLst/>
            </a:prstGeom>
          </p:spPr>
          <p:txBody>
            <a:bodyPr anchor="ctr" rtlCol="false" tIns="50800" lIns="50800" bIns="50800" rIns="50800"/>
            <a:lstStyle/>
            <a:p>
              <a:pPr algn="ctr">
                <a:lnSpc>
                  <a:spcPts val="1620"/>
                </a:lnSpc>
              </a:pPr>
            </a:p>
          </p:txBody>
        </p:sp>
      </p:grpSp>
      <p:sp>
        <p:nvSpPr>
          <p:cNvPr name="TextBox 5" id="5"/>
          <p:cNvSpPr txBox="true"/>
          <p:nvPr/>
        </p:nvSpPr>
        <p:spPr>
          <a:xfrm rot="0">
            <a:off x="1197577" y="836295"/>
            <a:ext cx="6761231" cy="531495"/>
          </a:xfrm>
          <a:prstGeom prst="rect">
            <a:avLst/>
          </a:prstGeom>
        </p:spPr>
        <p:txBody>
          <a:bodyPr anchor="t" rtlCol="false" tIns="0" lIns="0" bIns="0" rIns="0">
            <a:spAutoFit/>
          </a:bodyPr>
          <a:lstStyle/>
          <a:p>
            <a:pPr algn="l" marL="0" indent="0" lvl="0">
              <a:lnSpc>
                <a:spcPts val="3780"/>
              </a:lnSpc>
            </a:pPr>
            <a:r>
              <a:rPr lang="en-US" sz="4200">
                <a:solidFill>
                  <a:srgbClr val="1F3685"/>
                </a:solidFill>
                <a:latin typeface="Archivo Black"/>
                <a:ea typeface="Archivo Black"/>
                <a:cs typeface="Archivo Black"/>
                <a:sym typeface="Archivo Black"/>
              </a:rPr>
              <a:t>INTERPRÉTATION </a:t>
            </a:r>
          </a:p>
        </p:txBody>
      </p:sp>
      <p:sp>
        <p:nvSpPr>
          <p:cNvPr name="TextBox 6" id="6"/>
          <p:cNvSpPr txBox="true"/>
          <p:nvPr/>
        </p:nvSpPr>
        <p:spPr>
          <a:xfrm rot="0">
            <a:off x="1300771" y="2446757"/>
            <a:ext cx="5415671" cy="251460"/>
          </a:xfrm>
          <a:prstGeom prst="rect">
            <a:avLst/>
          </a:prstGeom>
        </p:spPr>
        <p:txBody>
          <a:bodyPr anchor="t" rtlCol="false" tIns="0" lIns="0" bIns="0" rIns="0">
            <a:spAutoFit/>
          </a:bodyPr>
          <a:lstStyle/>
          <a:p>
            <a:pPr algn="l" marL="0" indent="0" lvl="0">
              <a:lnSpc>
                <a:spcPts val="1890"/>
              </a:lnSpc>
            </a:pPr>
            <a:r>
              <a:rPr lang="en-US" sz="2100">
                <a:solidFill>
                  <a:srgbClr val="000000"/>
                </a:solidFill>
                <a:latin typeface="Montserrat"/>
                <a:ea typeface="Montserrat"/>
                <a:cs typeface="Montserrat"/>
                <a:sym typeface="Montserrat"/>
              </a:rPr>
              <a:t>I</a:t>
            </a:r>
            <a:r>
              <a:rPr lang="en-US" b="true" sz="2100">
                <a:solidFill>
                  <a:srgbClr val="000000"/>
                </a:solidFill>
                <a:latin typeface="Montserrat Bold"/>
                <a:ea typeface="Montserrat Bold"/>
                <a:cs typeface="Montserrat Bold"/>
                <a:sym typeface="Montserrat Bold"/>
              </a:rPr>
              <a:t>mportance des variables</a:t>
            </a:r>
          </a:p>
        </p:txBody>
      </p:sp>
      <p:sp>
        <p:nvSpPr>
          <p:cNvPr name="TextBox 7" id="7"/>
          <p:cNvSpPr txBox="true"/>
          <p:nvPr/>
        </p:nvSpPr>
        <p:spPr>
          <a:xfrm rot="0">
            <a:off x="1197577" y="3310890"/>
            <a:ext cx="4154137" cy="264160"/>
          </a:xfrm>
          <a:prstGeom prst="rect">
            <a:avLst/>
          </a:prstGeom>
        </p:spPr>
        <p:txBody>
          <a:bodyPr anchor="t" rtlCol="false" tIns="0" lIns="0" bIns="0" rIns="0">
            <a:spAutoFit/>
          </a:bodyPr>
          <a:lstStyle/>
          <a:p>
            <a:pPr algn="l" marL="345441" indent="-172721" lvl="1">
              <a:lnSpc>
                <a:spcPts val="2240"/>
              </a:lnSpc>
              <a:buFont typeface="Arial"/>
              <a:buChar char="•"/>
            </a:pPr>
            <a:r>
              <a:rPr lang="en-US" sz="1600">
                <a:solidFill>
                  <a:srgbClr val="FFFFFF"/>
                </a:solidFill>
                <a:latin typeface="Montserrat"/>
                <a:ea typeface="Montserrat"/>
                <a:cs typeface="Montserrat"/>
                <a:sym typeface="Montserrat"/>
              </a:rPr>
              <a:t>Influence du f</a:t>
            </a:r>
            <a:r>
              <a:rPr lang="en-US" sz="1600">
                <a:solidFill>
                  <a:srgbClr val="FFFFFF"/>
                </a:solidFill>
                <a:latin typeface="Montserrat"/>
                <a:ea typeface="Montserrat"/>
                <a:cs typeface="Montserrat"/>
                <a:sym typeface="Montserrat"/>
              </a:rPr>
              <a:t>acteur temporel</a:t>
            </a:r>
          </a:p>
        </p:txBody>
      </p:sp>
      <p:sp>
        <p:nvSpPr>
          <p:cNvPr name="TextBox 8" id="8"/>
          <p:cNvSpPr txBox="true"/>
          <p:nvPr/>
        </p:nvSpPr>
        <p:spPr>
          <a:xfrm rot="0">
            <a:off x="1197577" y="2821940"/>
            <a:ext cx="4340871" cy="264160"/>
          </a:xfrm>
          <a:prstGeom prst="rect">
            <a:avLst/>
          </a:prstGeom>
        </p:spPr>
        <p:txBody>
          <a:bodyPr anchor="t" rtlCol="false" tIns="0" lIns="0" bIns="0" rIns="0">
            <a:spAutoFit/>
          </a:bodyPr>
          <a:lstStyle/>
          <a:p>
            <a:pPr algn="l" marL="345441" indent="-172721" lvl="1">
              <a:lnSpc>
                <a:spcPts val="2240"/>
              </a:lnSpc>
              <a:buFont typeface="Arial"/>
              <a:buChar char="•"/>
            </a:pPr>
            <a:r>
              <a:rPr lang="en-US" sz="1600">
                <a:solidFill>
                  <a:srgbClr val="FFFFFF"/>
                </a:solidFill>
                <a:latin typeface="Montserrat"/>
                <a:ea typeface="Montserrat"/>
                <a:cs typeface="Montserrat"/>
                <a:sym typeface="Montserrat"/>
              </a:rPr>
              <a:t>Certaines variables ont un fort impact</a:t>
            </a:r>
          </a:p>
        </p:txBody>
      </p:sp>
      <p:sp>
        <p:nvSpPr>
          <p:cNvPr name="Freeform 9" id="9"/>
          <p:cNvSpPr/>
          <p:nvPr/>
        </p:nvSpPr>
        <p:spPr>
          <a:xfrm flipH="false" flipV="false" rot="0">
            <a:off x="9178859" y="2886075"/>
            <a:ext cx="906780" cy="906780"/>
          </a:xfrm>
          <a:custGeom>
            <a:avLst/>
            <a:gdLst/>
            <a:ahLst/>
            <a:cxnLst/>
            <a:rect r="r" b="b" t="t" l="l"/>
            <a:pathLst>
              <a:path h="906780" w="906780">
                <a:moveTo>
                  <a:pt x="0" y="0"/>
                </a:moveTo>
                <a:lnTo>
                  <a:pt x="906781" y="0"/>
                </a:lnTo>
                <a:lnTo>
                  <a:pt x="906781" y="906780"/>
                </a:lnTo>
                <a:lnTo>
                  <a:pt x="0" y="906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1623060" y="731520"/>
            <a:ext cx="2354580" cy="235458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12" id="12"/>
            <p:cNvSpPr txBox="true"/>
            <p:nvPr/>
          </p:nvSpPr>
          <p:spPr>
            <a:xfrm>
              <a:off x="76200" y="123825"/>
              <a:ext cx="660400" cy="612775"/>
            </a:xfrm>
            <a:prstGeom prst="rect">
              <a:avLst/>
            </a:prstGeom>
          </p:spPr>
          <p:txBody>
            <a:bodyPr anchor="ctr" rtlCol="false" tIns="50800" lIns="50800" bIns="50800" rIns="50800"/>
            <a:lstStyle/>
            <a:p>
              <a:pPr algn="ctr">
                <a:lnSpc>
                  <a:spcPts val="1620"/>
                </a:lnSpc>
              </a:pPr>
            </a:p>
          </p:txBody>
        </p:sp>
      </p:grpSp>
      <p:grpSp>
        <p:nvGrpSpPr>
          <p:cNvPr name="Group 13" id="13"/>
          <p:cNvGrpSpPr/>
          <p:nvPr/>
        </p:nvGrpSpPr>
        <p:grpSpPr>
          <a:xfrm rot="0">
            <a:off x="731520" y="4953958"/>
            <a:ext cx="7806278" cy="1908738"/>
            <a:chOff x="0" y="0"/>
            <a:chExt cx="2891214" cy="706940"/>
          </a:xfrm>
        </p:grpSpPr>
        <p:sp>
          <p:nvSpPr>
            <p:cNvPr name="Freeform 14" id="14"/>
            <p:cNvSpPr/>
            <p:nvPr/>
          </p:nvSpPr>
          <p:spPr>
            <a:xfrm flipH="false" flipV="false" rot="0">
              <a:off x="0" y="0"/>
              <a:ext cx="2891214" cy="706940"/>
            </a:xfrm>
            <a:custGeom>
              <a:avLst/>
              <a:gdLst/>
              <a:ahLst/>
              <a:cxnLst/>
              <a:rect r="r" b="b" t="t" l="l"/>
              <a:pathLst>
                <a:path h="706940" w="2891214">
                  <a:moveTo>
                    <a:pt x="35703" y="0"/>
                  </a:moveTo>
                  <a:lnTo>
                    <a:pt x="2855511" y="0"/>
                  </a:lnTo>
                  <a:cubicBezTo>
                    <a:pt x="2864980" y="0"/>
                    <a:pt x="2874061" y="3762"/>
                    <a:pt x="2880757" y="10457"/>
                  </a:cubicBezTo>
                  <a:cubicBezTo>
                    <a:pt x="2887453" y="17153"/>
                    <a:pt x="2891214" y="26234"/>
                    <a:pt x="2891214" y="35703"/>
                  </a:cubicBezTo>
                  <a:lnTo>
                    <a:pt x="2891214" y="671237"/>
                  </a:lnTo>
                  <a:cubicBezTo>
                    <a:pt x="2891214" y="690955"/>
                    <a:pt x="2875229" y="706940"/>
                    <a:pt x="2855511" y="706940"/>
                  </a:cubicBezTo>
                  <a:lnTo>
                    <a:pt x="35703" y="706940"/>
                  </a:lnTo>
                  <a:cubicBezTo>
                    <a:pt x="15985" y="706940"/>
                    <a:pt x="0" y="690955"/>
                    <a:pt x="0" y="671237"/>
                  </a:cubicBezTo>
                  <a:lnTo>
                    <a:pt x="0" y="35703"/>
                  </a:lnTo>
                  <a:cubicBezTo>
                    <a:pt x="0" y="15985"/>
                    <a:pt x="15985" y="0"/>
                    <a:pt x="35703" y="0"/>
                  </a:cubicBezTo>
                  <a:close/>
                </a:path>
              </a:pathLst>
            </a:custGeom>
            <a:solidFill>
              <a:srgbClr val="2B4CC0"/>
            </a:solidFill>
          </p:spPr>
        </p:sp>
        <p:sp>
          <p:nvSpPr>
            <p:cNvPr name="TextBox 15" id="15"/>
            <p:cNvSpPr txBox="true"/>
            <p:nvPr/>
          </p:nvSpPr>
          <p:spPr>
            <a:xfrm>
              <a:off x="0" y="47625"/>
              <a:ext cx="2891214" cy="659315"/>
            </a:xfrm>
            <a:prstGeom prst="rect">
              <a:avLst/>
            </a:prstGeom>
          </p:spPr>
          <p:txBody>
            <a:bodyPr anchor="ctr" rtlCol="false" tIns="50800" lIns="50800" bIns="50800" rIns="50800"/>
            <a:lstStyle/>
            <a:p>
              <a:pPr algn="ctr">
                <a:lnSpc>
                  <a:spcPts val="1620"/>
                </a:lnSpc>
              </a:pPr>
            </a:p>
          </p:txBody>
        </p:sp>
      </p:grpSp>
      <p:sp>
        <p:nvSpPr>
          <p:cNvPr name="TextBox 16" id="16"/>
          <p:cNvSpPr txBox="true"/>
          <p:nvPr/>
        </p:nvSpPr>
        <p:spPr>
          <a:xfrm rot="0">
            <a:off x="1117315" y="5218800"/>
            <a:ext cx="5415671" cy="251460"/>
          </a:xfrm>
          <a:prstGeom prst="rect">
            <a:avLst/>
          </a:prstGeom>
        </p:spPr>
        <p:txBody>
          <a:bodyPr anchor="t" rtlCol="false" tIns="0" lIns="0" bIns="0" rIns="0">
            <a:spAutoFit/>
          </a:bodyPr>
          <a:lstStyle/>
          <a:p>
            <a:pPr algn="l" marL="0" indent="0" lvl="0">
              <a:lnSpc>
                <a:spcPts val="1890"/>
              </a:lnSpc>
            </a:pPr>
            <a:r>
              <a:rPr lang="en-US" b="true" sz="2100">
                <a:solidFill>
                  <a:srgbClr val="000000"/>
                </a:solidFill>
                <a:latin typeface="Montserrat Bold"/>
                <a:ea typeface="Montserrat Bold"/>
                <a:cs typeface="Montserrat Bold"/>
                <a:sym typeface="Montserrat Bold"/>
              </a:rPr>
              <a:t>Recommandations business</a:t>
            </a:r>
          </a:p>
        </p:txBody>
      </p:sp>
      <p:sp>
        <p:nvSpPr>
          <p:cNvPr name="TextBox 17" id="17"/>
          <p:cNvSpPr txBox="true"/>
          <p:nvPr/>
        </p:nvSpPr>
        <p:spPr>
          <a:xfrm rot="0">
            <a:off x="1174079" y="5914360"/>
            <a:ext cx="4308621" cy="264160"/>
          </a:xfrm>
          <a:prstGeom prst="rect">
            <a:avLst/>
          </a:prstGeom>
        </p:spPr>
        <p:txBody>
          <a:bodyPr anchor="t" rtlCol="false" tIns="0" lIns="0" bIns="0" rIns="0">
            <a:spAutoFit/>
          </a:bodyPr>
          <a:lstStyle/>
          <a:p>
            <a:pPr algn="l" marL="345441" indent="-172721" lvl="1">
              <a:lnSpc>
                <a:spcPts val="2240"/>
              </a:lnSpc>
              <a:buFont typeface="Arial"/>
              <a:buChar char="•"/>
            </a:pPr>
            <a:r>
              <a:rPr lang="en-US" sz="1600">
                <a:solidFill>
                  <a:srgbClr val="FFFFFF"/>
                </a:solidFill>
                <a:latin typeface="Montserrat"/>
                <a:ea typeface="Montserrat"/>
                <a:cs typeface="Montserrat"/>
                <a:sym typeface="Montserrat"/>
              </a:rPr>
              <a:t>Améliorer la planification énergétique</a:t>
            </a:r>
          </a:p>
        </p:txBody>
      </p:sp>
      <p:sp>
        <p:nvSpPr>
          <p:cNvPr name="TextBox 18" id="18"/>
          <p:cNvSpPr txBox="true"/>
          <p:nvPr/>
        </p:nvSpPr>
        <p:spPr>
          <a:xfrm rot="0">
            <a:off x="1174079" y="6319520"/>
            <a:ext cx="3951028" cy="264160"/>
          </a:xfrm>
          <a:prstGeom prst="rect">
            <a:avLst/>
          </a:prstGeom>
        </p:spPr>
        <p:txBody>
          <a:bodyPr anchor="t" rtlCol="false" tIns="0" lIns="0" bIns="0" rIns="0">
            <a:spAutoFit/>
          </a:bodyPr>
          <a:lstStyle/>
          <a:p>
            <a:pPr algn="l" marL="345441" indent="-172721" lvl="1">
              <a:lnSpc>
                <a:spcPts val="2240"/>
              </a:lnSpc>
              <a:buFont typeface="Arial"/>
              <a:buChar char="•"/>
            </a:pPr>
            <a:r>
              <a:rPr lang="en-US" sz="1600">
                <a:solidFill>
                  <a:srgbClr val="FFFFFF"/>
                </a:solidFill>
                <a:latin typeface="Montserrat"/>
                <a:ea typeface="Montserrat"/>
                <a:cs typeface="Montserrat"/>
                <a:sym typeface="Montserrat"/>
              </a:rPr>
              <a:t>Réduire le gaspillage d’énergie</a:t>
            </a:r>
          </a:p>
        </p:txBody>
      </p:sp>
      <p:sp>
        <p:nvSpPr>
          <p:cNvPr name="TextBox 19" id="19"/>
          <p:cNvSpPr txBox="true"/>
          <p:nvPr/>
        </p:nvSpPr>
        <p:spPr>
          <a:xfrm rot="0">
            <a:off x="1174079" y="5526375"/>
            <a:ext cx="4364369" cy="264160"/>
          </a:xfrm>
          <a:prstGeom prst="rect">
            <a:avLst/>
          </a:prstGeom>
        </p:spPr>
        <p:txBody>
          <a:bodyPr anchor="t" rtlCol="false" tIns="0" lIns="0" bIns="0" rIns="0">
            <a:spAutoFit/>
          </a:bodyPr>
          <a:lstStyle/>
          <a:p>
            <a:pPr algn="l" marL="345441" indent="-172721" lvl="1">
              <a:lnSpc>
                <a:spcPts val="2240"/>
              </a:lnSpc>
              <a:buFont typeface="Arial"/>
              <a:buChar char="•"/>
            </a:pPr>
            <a:r>
              <a:rPr lang="en-US" sz="1600">
                <a:solidFill>
                  <a:srgbClr val="FFFFFF"/>
                </a:solidFill>
                <a:latin typeface="Montserrat"/>
                <a:ea typeface="Montserrat"/>
                <a:cs typeface="Montserrat"/>
                <a:sym typeface="Montserrat"/>
              </a:rPr>
              <a:t>Anticiper les pics de consommation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2907" y="2143556"/>
            <a:ext cx="7806278" cy="1915530"/>
            <a:chOff x="0" y="0"/>
            <a:chExt cx="2891214" cy="709455"/>
          </a:xfrm>
        </p:grpSpPr>
        <p:sp>
          <p:nvSpPr>
            <p:cNvPr name="Freeform 3" id="3"/>
            <p:cNvSpPr/>
            <p:nvPr/>
          </p:nvSpPr>
          <p:spPr>
            <a:xfrm flipH="false" flipV="false" rot="0">
              <a:off x="0" y="0"/>
              <a:ext cx="2891214" cy="709455"/>
            </a:xfrm>
            <a:custGeom>
              <a:avLst/>
              <a:gdLst/>
              <a:ahLst/>
              <a:cxnLst/>
              <a:rect r="r" b="b" t="t" l="l"/>
              <a:pathLst>
                <a:path h="709455" w="2891214">
                  <a:moveTo>
                    <a:pt x="35703" y="0"/>
                  </a:moveTo>
                  <a:lnTo>
                    <a:pt x="2855511" y="0"/>
                  </a:lnTo>
                  <a:cubicBezTo>
                    <a:pt x="2864980" y="0"/>
                    <a:pt x="2874061" y="3762"/>
                    <a:pt x="2880757" y="10457"/>
                  </a:cubicBezTo>
                  <a:cubicBezTo>
                    <a:pt x="2887453" y="17153"/>
                    <a:pt x="2891214" y="26234"/>
                    <a:pt x="2891214" y="35703"/>
                  </a:cubicBezTo>
                  <a:lnTo>
                    <a:pt x="2891214" y="673752"/>
                  </a:lnTo>
                  <a:cubicBezTo>
                    <a:pt x="2891214" y="693471"/>
                    <a:pt x="2875229" y="709455"/>
                    <a:pt x="2855511" y="709455"/>
                  </a:cubicBezTo>
                  <a:lnTo>
                    <a:pt x="35703" y="709455"/>
                  </a:lnTo>
                  <a:cubicBezTo>
                    <a:pt x="15985" y="709455"/>
                    <a:pt x="0" y="693471"/>
                    <a:pt x="0" y="673752"/>
                  </a:cubicBezTo>
                  <a:lnTo>
                    <a:pt x="0" y="35703"/>
                  </a:lnTo>
                  <a:cubicBezTo>
                    <a:pt x="0" y="15985"/>
                    <a:pt x="15985" y="0"/>
                    <a:pt x="35703" y="0"/>
                  </a:cubicBezTo>
                  <a:close/>
                </a:path>
              </a:pathLst>
            </a:custGeom>
            <a:solidFill>
              <a:srgbClr val="2B4CC0"/>
            </a:solidFill>
          </p:spPr>
        </p:sp>
        <p:sp>
          <p:nvSpPr>
            <p:cNvPr name="TextBox 4" id="4"/>
            <p:cNvSpPr txBox="true"/>
            <p:nvPr/>
          </p:nvSpPr>
          <p:spPr>
            <a:xfrm>
              <a:off x="0" y="47625"/>
              <a:ext cx="2891214" cy="661830"/>
            </a:xfrm>
            <a:prstGeom prst="rect">
              <a:avLst/>
            </a:prstGeom>
          </p:spPr>
          <p:txBody>
            <a:bodyPr anchor="ctr" rtlCol="false" tIns="50800" lIns="50800" bIns="50800" rIns="50800"/>
            <a:lstStyle/>
            <a:p>
              <a:pPr algn="ctr">
                <a:lnSpc>
                  <a:spcPts val="1620"/>
                </a:lnSpc>
              </a:pPr>
            </a:p>
          </p:txBody>
        </p:sp>
      </p:grpSp>
      <p:sp>
        <p:nvSpPr>
          <p:cNvPr name="TextBox 5" id="5"/>
          <p:cNvSpPr txBox="true"/>
          <p:nvPr/>
        </p:nvSpPr>
        <p:spPr>
          <a:xfrm rot="0">
            <a:off x="1415430" y="503782"/>
            <a:ext cx="7606650" cy="1007745"/>
          </a:xfrm>
          <a:prstGeom prst="rect">
            <a:avLst/>
          </a:prstGeom>
        </p:spPr>
        <p:txBody>
          <a:bodyPr anchor="t" rtlCol="false" tIns="0" lIns="0" bIns="0" rIns="0">
            <a:spAutoFit/>
          </a:bodyPr>
          <a:lstStyle/>
          <a:p>
            <a:pPr algn="l" marL="0" indent="0" lvl="0">
              <a:lnSpc>
                <a:spcPts val="3780"/>
              </a:lnSpc>
            </a:pPr>
            <a:r>
              <a:rPr lang="en-US" sz="4200">
                <a:solidFill>
                  <a:srgbClr val="1F3685"/>
                </a:solidFill>
                <a:latin typeface="Archivo Black"/>
                <a:ea typeface="Archivo Black"/>
                <a:cs typeface="Archivo Black"/>
                <a:sym typeface="Archivo Black"/>
              </a:rPr>
              <a:t>LIMITES ET PERSPECTIVES</a:t>
            </a:r>
          </a:p>
        </p:txBody>
      </p:sp>
      <p:sp>
        <p:nvSpPr>
          <p:cNvPr name="TextBox 6" id="6"/>
          <p:cNvSpPr txBox="true"/>
          <p:nvPr/>
        </p:nvSpPr>
        <p:spPr>
          <a:xfrm rot="0">
            <a:off x="1197577" y="1892096"/>
            <a:ext cx="5415671" cy="251460"/>
          </a:xfrm>
          <a:prstGeom prst="rect">
            <a:avLst/>
          </a:prstGeom>
        </p:spPr>
        <p:txBody>
          <a:bodyPr anchor="t" rtlCol="false" tIns="0" lIns="0" bIns="0" rIns="0">
            <a:spAutoFit/>
          </a:bodyPr>
          <a:lstStyle/>
          <a:p>
            <a:pPr algn="l" marL="0" indent="0" lvl="0">
              <a:lnSpc>
                <a:spcPts val="1890"/>
              </a:lnSpc>
            </a:pPr>
            <a:r>
              <a:rPr lang="en-US" sz="2100">
                <a:solidFill>
                  <a:srgbClr val="FFFFFF"/>
                </a:solidFill>
                <a:latin typeface="Montserrat"/>
                <a:ea typeface="Montserrat"/>
                <a:cs typeface="Montserrat"/>
                <a:sym typeface="Montserrat"/>
              </a:rPr>
              <a:t>Limites</a:t>
            </a:r>
          </a:p>
        </p:txBody>
      </p:sp>
      <p:sp>
        <p:nvSpPr>
          <p:cNvPr name="TextBox 7" id="7"/>
          <p:cNvSpPr txBox="true"/>
          <p:nvPr/>
        </p:nvSpPr>
        <p:spPr>
          <a:xfrm rot="0">
            <a:off x="4211217" y="2624455"/>
            <a:ext cx="4154137" cy="224155"/>
          </a:xfrm>
          <a:prstGeom prst="rect">
            <a:avLst/>
          </a:prstGeom>
        </p:spPr>
        <p:txBody>
          <a:bodyPr anchor="t" rtlCol="false" tIns="0" lIns="0" bIns="0" rIns="0">
            <a:spAutoFit/>
          </a:bodyPr>
          <a:lstStyle/>
          <a:p>
            <a:pPr algn="l" marL="280673" indent="-140336" lvl="1">
              <a:lnSpc>
                <a:spcPts val="1820"/>
              </a:lnSpc>
              <a:buFont typeface="Arial"/>
              <a:buChar char="•"/>
            </a:pPr>
            <a:r>
              <a:rPr lang="en-US" sz="1300">
                <a:solidFill>
                  <a:srgbClr val="FFFFFF"/>
                </a:solidFill>
                <a:latin typeface="Montserrat"/>
                <a:ea typeface="Montserrat"/>
                <a:cs typeface="Montserrat"/>
                <a:sym typeface="Montserrat"/>
              </a:rPr>
              <a:t>Contexte géog</a:t>
            </a:r>
            <a:r>
              <a:rPr lang="en-US" sz="1300">
                <a:solidFill>
                  <a:srgbClr val="FFFFFF"/>
                </a:solidFill>
                <a:latin typeface="Montserrat"/>
                <a:ea typeface="Montserrat"/>
                <a:cs typeface="Montserrat"/>
                <a:sym typeface="Montserrat"/>
              </a:rPr>
              <a:t>raphique restreint</a:t>
            </a:r>
          </a:p>
        </p:txBody>
      </p:sp>
      <p:sp>
        <p:nvSpPr>
          <p:cNvPr name="TextBox 8" id="8"/>
          <p:cNvSpPr txBox="true"/>
          <p:nvPr/>
        </p:nvSpPr>
        <p:spPr>
          <a:xfrm rot="0">
            <a:off x="4211217" y="3025472"/>
            <a:ext cx="3013640" cy="224155"/>
          </a:xfrm>
          <a:prstGeom prst="rect">
            <a:avLst/>
          </a:prstGeom>
        </p:spPr>
        <p:txBody>
          <a:bodyPr anchor="t" rtlCol="false" tIns="0" lIns="0" bIns="0" rIns="0">
            <a:spAutoFit/>
          </a:bodyPr>
          <a:lstStyle/>
          <a:p>
            <a:pPr algn="l" marL="280673" indent="-140336" lvl="1">
              <a:lnSpc>
                <a:spcPts val="1820"/>
              </a:lnSpc>
              <a:buFont typeface="Arial"/>
              <a:buChar char="•"/>
            </a:pPr>
            <a:r>
              <a:rPr lang="en-US" sz="1300">
                <a:solidFill>
                  <a:srgbClr val="FFFFFF"/>
                </a:solidFill>
                <a:latin typeface="Montserrat"/>
                <a:ea typeface="Montserrat"/>
                <a:cs typeface="Montserrat"/>
                <a:sym typeface="Montserrat"/>
              </a:rPr>
              <a:t>Données externes absentes</a:t>
            </a:r>
          </a:p>
        </p:txBody>
      </p:sp>
      <p:sp>
        <p:nvSpPr>
          <p:cNvPr name="TextBox 9" id="9"/>
          <p:cNvSpPr txBox="true"/>
          <p:nvPr/>
        </p:nvSpPr>
        <p:spPr>
          <a:xfrm rot="0">
            <a:off x="4211217" y="3392502"/>
            <a:ext cx="2546915" cy="224155"/>
          </a:xfrm>
          <a:prstGeom prst="rect">
            <a:avLst/>
          </a:prstGeom>
        </p:spPr>
        <p:txBody>
          <a:bodyPr anchor="t" rtlCol="false" tIns="0" lIns="0" bIns="0" rIns="0">
            <a:spAutoFit/>
          </a:bodyPr>
          <a:lstStyle/>
          <a:p>
            <a:pPr algn="l" marL="280673" indent="-140336" lvl="1">
              <a:lnSpc>
                <a:spcPts val="1820"/>
              </a:lnSpc>
              <a:buFont typeface="Arial"/>
              <a:buChar char="•"/>
            </a:pPr>
            <a:r>
              <a:rPr lang="en-US" sz="1300">
                <a:solidFill>
                  <a:srgbClr val="FFFFFF"/>
                </a:solidFill>
                <a:latin typeface="Montserrat"/>
                <a:ea typeface="Montserrat"/>
                <a:cs typeface="Montserrat"/>
                <a:sym typeface="Montserrat"/>
              </a:rPr>
              <a:t>Dataset limité en taille</a:t>
            </a:r>
          </a:p>
        </p:txBody>
      </p:sp>
      <p:sp>
        <p:nvSpPr>
          <p:cNvPr name="Freeform 10" id="10"/>
          <p:cNvSpPr/>
          <p:nvPr/>
        </p:nvSpPr>
        <p:spPr>
          <a:xfrm flipH="false" flipV="false" rot="0">
            <a:off x="9178859" y="2886075"/>
            <a:ext cx="906780" cy="906780"/>
          </a:xfrm>
          <a:custGeom>
            <a:avLst/>
            <a:gdLst/>
            <a:ahLst/>
            <a:cxnLst/>
            <a:rect r="r" b="b" t="t" l="l"/>
            <a:pathLst>
              <a:path h="906780" w="906780">
                <a:moveTo>
                  <a:pt x="0" y="0"/>
                </a:moveTo>
                <a:lnTo>
                  <a:pt x="906781" y="0"/>
                </a:lnTo>
                <a:lnTo>
                  <a:pt x="906781" y="906780"/>
                </a:lnTo>
                <a:lnTo>
                  <a:pt x="0" y="9067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1623060" y="731520"/>
            <a:ext cx="2354580" cy="235458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13" id="13"/>
            <p:cNvSpPr txBox="true"/>
            <p:nvPr/>
          </p:nvSpPr>
          <p:spPr>
            <a:xfrm>
              <a:off x="76200" y="123825"/>
              <a:ext cx="660400" cy="612775"/>
            </a:xfrm>
            <a:prstGeom prst="rect">
              <a:avLst/>
            </a:prstGeom>
          </p:spPr>
          <p:txBody>
            <a:bodyPr anchor="ctr" rtlCol="false" tIns="50800" lIns="50800" bIns="50800" rIns="50800"/>
            <a:lstStyle/>
            <a:p>
              <a:pPr algn="ctr">
                <a:lnSpc>
                  <a:spcPts val="1620"/>
                </a:lnSpc>
              </a:pPr>
            </a:p>
          </p:txBody>
        </p:sp>
      </p:grpSp>
      <p:grpSp>
        <p:nvGrpSpPr>
          <p:cNvPr name="Group 14" id="14"/>
          <p:cNvGrpSpPr/>
          <p:nvPr/>
        </p:nvGrpSpPr>
        <p:grpSpPr>
          <a:xfrm rot="0">
            <a:off x="731520" y="4953958"/>
            <a:ext cx="7806278" cy="1908738"/>
            <a:chOff x="0" y="0"/>
            <a:chExt cx="2891214" cy="706940"/>
          </a:xfrm>
        </p:grpSpPr>
        <p:sp>
          <p:nvSpPr>
            <p:cNvPr name="Freeform 15" id="15"/>
            <p:cNvSpPr/>
            <p:nvPr/>
          </p:nvSpPr>
          <p:spPr>
            <a:xfrm flipH="false" flipV="false" rot="0">
              <a:off x="0" y="0"/>
              <a:ext cx="2891214" cy="706940"/>
            </a:xfrm>
            <a:custGeom>
              <a:avLst/>
              <a:gdLst/>
              <a:ahLst/>
              <a:cxnLst/>
              <a:rect r="r" b="b" t="t" l="l"/>
              <a:pathLst>
                <a:path h="706940" w="2891214">
                  <a:moveTo>
                    <a:pt x="35703" y="0"/>
                  </a:moveTo>
                  <a:lnTo>
                    <a:pt x="2855511" y="0"/>
                  </a:lnTo>
                  <a:cubicBezTo>
                    <a:pt x="2864980" y="0"/>
                    <a:pt x="2874061" y="3762"/>
                    <a:pt x="2880757" y="10457"/>
                  </a:cubicBezTo>
                  <a:cubicBezTo>
                    <a:pt x="2887453" y="17153"/>
                    <a:pt x="2891214" y="26234"/>
                    <a:pt x="2891214" y="35703"/>
                  </a:cubicBezTo>
                  <a:lnTo>
                    <a:pt x="2891214" y="671237"/>
                  </a:lnTo>
                  <a:cubicBezTo>
                    <a:pt x="2891214" y="690955"/>
                    <a:pt x="2875229" y="706940"/>
                    <a:pt x="2855511" y="706940"/>
                  </a:cubicBezTo>
                  <a:lnTo>
                    <a:pt x="35703" y="706940"/>
                  </a:lnTo>
                  <a:cubicBezTo>
                    <a:pt x="15985" y="706940"/>
                    <a:pt x="0" y="690955"/>
                    <a:pt x="0" y="671237"/>
                  </a:cubicBezTo>
                  <a:lnTo>
                    <a:pt x="0" y="35703"/>
                  </a:lnTo>
                  <a:cubicBezTo>
                    <a:pt x="0" y="15985"/>
                    <a:pt x="15985" y="0"/>
                    <a:pt x="35703" y="0"/>
                  </a:cubicBezTo>
                  <a:close/>
                </a:path>
              </a:pathLst>
            </a:custGeom>
            <a:solidFill>
              <a:srgbClr val="2B4CC0"/>
            </a:solidFill>
          </p:spPr>
        </p:sp>
        <p:sp>
          <p:nvSpPr>
            <p:cNvPr name="TextBox 16" id="16"/>
            <p:cNvSpPr txBox="true"/>
            <p:nvPr/>
          </p:nvSpPr>
          <p:spPr>
            <a:xfrm>
              <a:off x="0" y="47625"/>
              <a:ext cx="2891214" cy="659315"/>
            </a:xfrm>
            <a:prstGeom prst="rect">
              <a:avLst/>
            </a:prstGeom>
          </p:spPr>
          <p:txBody>
            <a:bodyPr anchor="ctr" rtlCol="false" tIns="50800" lIns="50800" bIns="50800" rIns="50800"/>
            <a:lstStyle/>
            <a:p>
              <a:pPr algn="ctr">
                <a:lnSpc>
                  <a:spcPts val="1620"/>
                </a:lnSpc>
              </a:pPr>
            </a:p>
          </p:txBody>
        </p:sp>
      </p:grpSp>
      <p:sp>
        <p:nvSpPr>
          <p:cNvPr name="TextBox 17" id="17"/>
          <p:cNvSpPr txBox="true"/>
          <p:nvPr/>
        </p:nvSpPr>
        <p:spPr>
          <a:xfrm rot="0">
            <a:off x="1503382" y="5747754"/>
            <a:ext cx="5415671" cy="251460"/>
          </a:xfrm>
          <a:prstGeom prst="rect">
            <a:avLst/>
          </a:prstGeom>
        </p:spPr>
        <p:txBody>
          <a:bodyPr anchor="t" rtlCol="false" tIns="0" lIns="0" bIns="0" rIns="0">
            <a:spAutoFit/>
          </a:bodyPr>
          <a:lstStyle/>
          <a:p>
            <a:pPr algn="l" marL="0" indent="0" lvl="0">
              <a:lnSpc>
                <a:spcPts val="1890"/>
              </a:lnSpc>
            </a:pPr>
            <a:r>
              <a:rPr lang="en-US" b="true" sz="2100">
                <a:solidFill>
                  <a:srgbClr val="000000"/>
                </a:solidFill>
                <a:latin typeface="Montserrat Bold"/>
                <a:ea typeface="Montserrat Bold"/>
                <a:cs typeface="Montserrat Bold"/>
                <a:sym typeface="Montserrat Bold"/>
              </a:rPr>
              <a:t>Perspectives :</a:t>
            </a:r>
          </a:p>
        </p:txBody>
      </p:sp>
      <p:sp>
        <p:nvSpPr>
          <p:cNvPr name="TextBox 18" id="18"/>
          <p:cNvSpPr txBox="true"/>
          <p:nvPr/>
        </p:nvSpPr>
        <p:spPr>
          <a:xfrm rot="0">
            <a:off x="4578193" y="5317860"/>
            <a:ext cx="3158639" cy="681355"/>
          </a:xfrm>
          <a:prstGeom prst="rect">
            <a:avLst/>
          </a:prstGeom>
        </p:spPr>
        <p:txBody>
          <a:bodyPr anchor="t" rtlCol="false" tIns="0" lIns="0" bIns="0" rIns="0">
            <a:spAutoFit/>
          </a:bodyPr>
          <a:lstStyle/>
          <a:p>
            <a:pPr algn="l" marL="280673" indent="-140336" lvl="1">
              <a:lnSpc>
                <a:spcPts val="1820"/>
              </a:lnSpc>
              <a:buFont typeface="Arial"/>
              <a:buChar char="•"/>
            </a:pPr>
            <a:r>
              <a:rPr lang="en-US" sz="1300">
                <a:solidFill>
                  <a:srgbClr val="FFFFFF"/>
                </a:solidFill>
                <a:latin typeface="Montserrat"/>
                <a:ea typeface="Montserrat"/>
                <a:cs typeface="Montserrat"/>
                <a:sym typeface="Montserrat"/>
              </a:rPr>
              <a:t>Étendre la période d’étude</a:t>
            </a:r>
          </a:p>
          <a:p>
            <a:pPr algn="l">
              <a:lnSpc>
                <a:spcPts val="1820"/>
              </a:lnSpc>
            </a:pPr>
            <a:r>
              <a:rPr lang="en-US" sz="1300">
                <a:solidFill>
                  <a:srgbClr val="FFFFFF"/>
                </a:solidFill>
                <a:latin typeface="Montserrat"/>
                <a:ea typeface="Montserrat"/>
                <a:cs typeface="Montserrat"/>
                <a:sym typeface="Montserrat"/>
              </a:rPr>
              <a:t> </a:t>
            </a:r>
          </a:p>
          <a:p>
            <a:pPr algn="l">
              <a:lnSpc>
                <a:spcPts val="1820"/>
              </a:lnSpc>
            </a:pPr>
          </a:p>
        </p:txBody>
      </p:sp>
      <p:sp>
        <p:nvSpPr>
          <p:cNvPr name="TextBox 19" id="19"/>
          <p:cNvSpPr txBox="true"/>
          <p:nvPr/>
        </p:nvSpPr>
        <p:spPr>
          <a:xfrm rot="0">
            <a:off x="4578193" y="6142089"/>
            <a:ext cx="2798304" cy="681355"/>
          </a:xfrm>
          <a:prstGeom prst="rect">
            <a:avLst/>
          </a:prstGeom>
        </p:spPr>
        <p:txBody>
          <a:bodyPr anchor="t" rtlCol="false" tIns="0" lIns="0" bIns="0" rIns="0">
            <a:spAutoFit/>
          </a:bodyPr>
          <a:lstStyle/>
          <a:p>
            <a:pPr algn="l" marL="280673" indent="-140336" lvl="1">
              <a:lnSpc>
                <a:spcPts val="1820"/>
              </a:lnSpc>
              <a:buFont typeface="Arial"/>
              <a:buChar char="•"/>
            </a:pPr>
            <a:r>
              <a:rPr lang="en-US" sz="1300">
                <a:solidFill>
                  <a:srgbClr val="FFFFFF"/>
                </a:solidFill>
                <a:latin typeface="Montserrat"/>
                <a:ea typeface="Montserrat"/>
                <a:cs typeface="Montserrat"/>
                <a:sym typeface="Montserrat"/>
              </a:rPr>
              <a:t>Tester des modèles avancés</a:t>
            </a:r>
          </a:p>
          <a:p>
            <a:pPr algn="l">
              <a:lnSpc>
                <a:spcPts val="1820"/>
              </a:lnSpc>
            </a:pPr>
          </a:p>
          <a:p>
            <a:pPr algn="l">
              <a:lnSpc>
                <a:spcPts val="1820"/>
              </a:lnSpc>
            </a:pPr>
          </a:p>
        </p:txBody>
      </p:sp>
      <p:sp>
        <p:nvSpPr>
          <p:cNvPr name="TextBox 20" id="20"/>
          <p:cNvSpPr txBox="true"/>
          <p:nvPr/>
        </p:nvSpPr>
        <p:spPr>
          <a:xfrm rot="0">
            <a:off x="4578193" y="5713782"/>
            <a:ext cx="2741837" cy="224155"/>
          </a:xfrm>
          <a:prstGeom prst="rect">
            <a:avLst/>
          </a:prstGeom>
        </p:spPr>
        <p:txBody>
          <a:bodyPr anchor="t" rtlCol="false" tIns="0" lIns="0" bIns="0" rIns="0">
            <a:spAutoFit/>
          </a:bodyPr>
          <a:lstStyle/>
          <a:p>
            <a:pPr algn="l" marL="280673" indent="-140336" lvl="1">
              <a:lnSpc>
                <a:spcPts val="1820"/>
              </a:lnSpc>
              <a:buFont typeface="Arial"/>
              <a:buChar char="•"/>
            </a:pPr>
            <a:r>
              <a:rPr lang="en-US" sz="1300">
                <a:solidFill>
                  <a:srgbClr val="FFFFFF"/>
                </a:solidFill>
                <a:latin typeface="Montserrat"/>
                <a:ea typeface="Montserrat"/>
                <a:cs typeface="Montserrat"/>
                <a:sym typeface="Montserrat"/>
              </a:rPr>
              <a:t>Ajouter des données météo</a:t>
            </a:r>
          </a:p>
        </p:txBody>
      </p:sp>
      <p:sp>
        <p:nvSpPr>
          <p:cNvPr name="TextBox 21" id="21"/>
          <p:cNvSpPr txBox="true"/>
          <p:nvPr/>
        </p:nvSpPr>
        <p:spPr>
          <a:xfrm rot="0">
            <a:off x="-1432105" y="2573669"/>
            <a:ext cx="7806278" cy="306705"/>
          </a:xfrm>
          <a:prstGeom prst="rect">
            <a:avLst/>
          </a:prstGeom>
        </p:spPr>
        <p:txBody>
          <a:bodyPr anchor="t" rtlCol="false" tIns="0" lIns="0" bIns="0" rIns="0">
            <a:spAutoFit/>
          </a:bodyPr>
          <a:lstStyle/>
          <a:p>
            <a:pPr algn="ctr">
              <a:lnSpc>
                <a:spcPts val="2520"/>
              </a:lnSpc>
              <a:spcBef>
                <a:spcPct val="0"/>
              </a:spcBef>
            </a:pPr>
            <a:r>
              <a:rPr lang="en-US" b="true" sz="1800">
                <a:solidFill>
                  <a:srgbClr val="000000"/>
                </a:solidFill>
                <a:latin typeface="Montserrat Bold"/>
                <a:ea typeface="Montserrat Bold"/>
                <a:cs typeface="Montserrat Bold"/>
                <a:sym typeface="Montserrat Bold"/>
              </a:rPr>
              <a:t>LIMITES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998730" y="4671689"/>
            <a:ext cx="4169090" cy="834210"/>
          </a:xfrm>
          <a:custGeom>
            <a:avLst/>
            <a:gdLst/>
            <a:ahLst/>
            <a:cxnLst/>
            <a:rect r="r" b="b" t="t" l="l"/>
            <a:pathLst>
              <a:path h="834210" w="4169090">
                <a:moveTo>
                  <a:pt x="0" y="0"/>
                </a:moveTo>
                <a:lnTo>
                  <a:pt x="4169090" y="0"/>
                </a:lnTo>
                <a:lnTo>
                  <a:pt x="4169090" y="834210"/>
                </a:lnTo>
                <a:lnTo>
                  <a:pt x="0" y="834210"/>
                </a:lnTo>
                <a:lnTo>
                  <a:pt x="0" y="0"/>
                </a:lnTo>
                <a:close/>
              </a:path>
            </a:pathLst>
          </a:custGeom>
          <a:blipFill>
            <a:blip r:embed="rId2">
              <a:extLst>
                <a:ext uri="{96DAC541-7B7A-43D3-8B79-37D633B846F1}">
                  <asvg:svgBlip xmlns:asvg="http://schemas.microsoft.com/office/drawing/2016/SVG/main" r:embed="rId3"/>
                </a:ext>
              </a:extLst>
            </a:blip>
            <a:stretch>
              <a:fillRect l="-66014" t="0" r="-67935" b="-276950"/>
            </a:stretch>
          </a:blipFill>
        </p:spPr>
      </p:sp>
      <p:sp>
        <p:nvSpPr>
          <p:cNvPr name="TextBox 3" id="3"/>
          <p:cNvSpPr txBox="true"/>
          <p:nvPr/>
        </p:nvSpPr>
        <p:spPr>
          <a:xfrm rot="0">
            <a:off x="731520" y="1072601"/>
            <a:ext cx="7678763" cy="531495"/>
          </a:xfrm>
          <a:prstGeom prst="rect">
            <a:avLst/>
          </a:prstGeom>
        </p:spPr>
        <p:txBody>
          <a:bodyPr anchor="t" rtlCol="false" tIns="0" lIns="0" bIns="0" rIns="0">
            <a:spAutoFit/>
          </a:bodyPr>
          <a:lstStyle/>
          <a:p>
            <a:pPr algn="ctr" marL="0" indent="0" lvl="0">
              <a:lnSpc>
                <a:spcPts val="3780"/>
              </a:lnSpc>
            </a:pPr>
            <a:r>
              <a:rPr lang="en-US" sz="4200">
                <a:solidFill>
                  <a:srgbClr val="1F3685"/>
                </a:solidFill>
                <a:latin typeface="Archivo Black"/>
                <a:ea typeface="Archivo Black"/>
                <a:cs typeface="Archivo Black"/>
                <a:sym typeface="Archivo Black"/>
              </a:rPr>
              <a:t>CONCLUSION </a:t>
            </a:r>
          </a:p>
        </p:txBody>
      </p:sp>
      <p:sp>
        <p:nvSpPr>
          <p:cNvPr name="Freeform 4" id="4"/>
          <p:cNvSpPr/>
          <p:nvPr/>
        </p:nvSpPr>
        <p:spPr>
          <a:xfrm flipH="true" flipV="true" rot="5400000">
            <a:off x="7300925" y="660424"/>
            <a:ext cx="4303392" cy="861083"/>
          </a:xfrm>
          <a:custGeom>
            <a:avLst/>
            <a:gdLst/>
            <a:ahLst/>
            <a:cxnLst/>
            <a:rect r="r" b="b" t="t" l="l"/>
            <a:pathLst>
              <a:path h="861083" w="4303392">
                <a:moveTo>
                  <a:pt x="4303393" y="861083"/>
                </a:moveTo>
                <a:lnTo>
                  <a:pt x="0" y="861083"/>
                </a:lnTo>
                <a:lnTo>
                  <a:pt x="0" y="0"/>
                </a:lnTo>
                <a:lnTo>
                  <a:pt x="4303393" y="0"/>
                </a:lnTo>
                <a:lnTo>
                  <a:pt x="4303393" y="861083"/>
                </a:lnTo>
                <a:close/>
              </a:path>
            </a:pathLst>
          </a:custGeom>
          <a:blipFill>
            <a:blip r:embed="rId2">
              <a:extLst>
                <a:ext uri="{96DAC541-7B7A-43D3-8B79-37D633B846F1}">
                  <asvg:svgBlip xmlns:asvg="http://schemas.microsoft.com/office/drawing/2016/SVG/main" r:embed="rId3"/>
                </a:ext>
              </a:extLst>
            </a:blip>
            <a:stretch>
              <a:fillRect l="-66014" t="0" r="-67935" b="-276950"/>
            </a:stretch>
          </a:blipFill>
        </p:spPr>
      </p:sp>
      <p:sp>
        <p:nvSpPr>
          <p:cNvPr name="Freeform 5" id="5"/>
          <p:cNvSpPr/>
          <p:nvPr/>
        </p:nvSpPr>
        <p:spPr>
          <a:xfrm flipH="false" flipV="false" rot="0">
            <a:off x="7765847" y="5470098"/>
            <a:ext cx="823373" cy="823373"/>
          </a:xfrm>
          <a:custGeom>
            <a:avLst/>
            <a:gdLst/>
            <a:ahLst/>
            <a:cxnLst/>
            <a:rect r="r" b="b" t="t" l="l"/>
            <a:pathLst>
              <a:path h="823373" w="823373">
                <a:moveTo>
                  <a:pt x="0" y="0"/>
                </a:moveTo>
                <a:lnTo>
                  <a:pt x="823373" y="0"/>
                </a:lnTo>
                <a:lnTo>
                  <a:pt x="823373" y="823373"/>
                </a:lnTo>
                <a:lnTo>
                  <a:pt x="0" y="823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54441" y="731520"/>
            <a:ext cx="1108881" cy="1108881"/>
          </a:xfrm>
          <a:custGeom>
            <a:avLst/>
            <a:gdLst/>
            <a:ahLst/>
            <a:cxnLst/>
            <a:rect r="r" b="b" t="t" l="l"/>
            <a:pathLst>
              <a:path h="1108881" w="1108881">
                <a:moveTo>
                  <a:pt x="0" y="0"/>
                </a:moveTo>
                <a:lnTo>
                  <a:pt x="1108882" y="0"/>
                </a:lnTo>
                <a:lnTo>
                  <a:pt x="1108882" y="1108881"/>
                </a:lnTo>
                <a:lnTo>
                  <a:pt x="0" y="11088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909903" y="2289194"/>
            <a:ext cx="7806278" cy="2799601"/>
            <a:chOff x="0" y="0"/>
            <a:chExt cx="2891214" cy="1036889"/>
          </a:xfrm>
        </p:grpSpPr>
        <p:sp>
          <p:nvSpPr>
            <p:cNvPr name="Freeform 8" id="8"/>
            <p:cNvSpPr/>
            <p:nvPr/>
          </p:nvSpPr>
          <p:spPr>
            <a:xfrm flipH="false" flipV="false" rot="0">
              <a:off x="0" y="0"/>
              <a:ext cx="2891214" cy="1036889"/>
            </a:xfrm>
            <a:custGeom>
              <a:avLst/>
              <a:gdLst/>
              <a:ahLst/>
              <a:cxnLst/>
              <a:rect r="r" b="b" t="t" l="l"/>
              <a:pathLst>
                <a:path h="1036889" w="2891214">
                  <a:moveTo>
                    <a:pt x="35703" y="0"/>
                  </a:moveTo>
                  <a:lnTo>
                    <a:pt x="2855511" y="0"/>
                  </a:lnTo>
                  <a:cubicBezTo>
                    <a:pt x="2864980" y="0"/>
                    <a:pt x="2874061" y="3762"/>
                    <a:pt x="2880757" y="10457"/>
                  </a:cubicBezTo>
                  <a:cubicBezTo>
                    <a:pt x="2887453" y="17153"/>
                    <a:pt x="2891214" y="26234"/>
                    <a:pt x="2891214" y="35703"/>
                  </a:cubicBezTo>
                  <a:lnTo>
                    <a:pt x="2891214" y="1001186"/>
                  </a:lnTo>
                  <a:cubicBezTo>
                    <a:pt x="2891214" y="1020904"/>
                    <a:pt x="2875229" y="1036889"/>
                    <a:pt x="2855511" y="1036889"/>
                  </a:cubicBezTo>
                  <a:lnTo>
                    <a:pt x="35703" y="1036889"/>
                  </a:lnTo>
                  <a:cubicBezTo>
                    <a:pt x="15985" y="1036889"/>
                    <a:pt x="0" y="1020904"/>
                    <a:pt x="0" y="1001186"/>
                  </a:cubicBezTo>
                  <a:lnTo>
                    <a:pt x="0" y="35703"/>
                  </a:lnTo>
                  <a:cubicBezTo>
                    <a:pt x="0" y="15985"/>
                    <a:pt x="15985" y="0"/>
                    <a:pt x="35703" y="0"/>
                  </a:cubicBezTo>
                  <a:close/>
                </a:path>
              </a:pathLst>
            </a:custGeom>
            <a:solidFill>
              <a:srgbClr val="2B4CC0"/>
            </a:solidFill>
          </p:spPr>
        </p:sp>
        <p:sp>
          <p:nvSpPr>
            <p:cNvPr name="TextBox 9" id="9"/>
            <p:cNvSpPr txBox="true"/>
            <p:nvPr/>
          </p:nvSpPr>
          <p:spPr>
            <a:xfrm>
              <a:off x="0" y="47625"/>
              <a:ext cx="2891214" cy="989264"/>
            </a:xfrm>
            <a:prstGeom prst="rect">
              <a:avLst/>
            </a:prstGeom>
          </p:spPr>
          <p:txBody>
            <a:bodyPr anchor="ctr" rtlCol="false" tIns="50800" lIns="50800" bIns="50800" rIns="50800"/>
            <a:lstStyle/>
            <a:p>
              <a:pPr algn="just">
                <a:lnSpc>
                  <a:spcPts val="1620"/>
                </a:lnSpc>
              </a:pPr>
              <a:r>
                <a:rPr lang="en-US" sz="1800">
                  <a:solidFill>
                    <a:srgbClr val="FFFFFF"/>
                  </a:solidFill>
                  <a:latin typeface="Montserrat"/>
                  <a:ea typeface="Montserrat"/>
                  <a:cs typeface="Montserrat"/>
                  <a:sym typeface="Montserrat"/>
                </a:rPr>
                <a:t>    </a:t>
              </a:r>
            </a:p>
          </p:txBody>
        </p:sp>
      </p:grpSp>
      <p:sp>
        <p:nvSpPr>
          <p:cNvPr name="TextBox 10" id="10"/>
          <p:cNvSpPr txBox="true"/>
          <p:nvPr/>
        </p:nvSpPr>
        <p:spPr>
          <a:xfrm rot="0">
            <a:off x="1209118" y="3125943"/>
            <a:ext cx="7335363" cy="1044265"/>
          </a:xfrm>
          <a:prstGeom prst="rect">
            <a:avLst/>
          </a:prstGeom>
        </p:spPr>
        <p:txBody>
          <a:bodyPr anchor="t" rtlCol="false" tIns="0" lIns="0" bIns="0" rIns="0">
            <a:spAutoFit/>
          </a:bodyPr>
          <a:lstStyle/>
          <a:p>
            <a:pPr algn="ctr">
              <a:lnSpc>
                <a:spcPts val="1688"/>
              </a:lnSpc>
              <a:spcBef>
                <a:spcPct val="0"/>
              </a:spcBef>
            </a:pPr>
            <a:r>
              <a:rPr lang="en-US" sz="1206">
                <a:solidFill>
                  <a:srgbClr val="FFFFFF"/>
                </a:solidFill>
                <a:latin typeface="Montserrat"/>
                <a:ea typeface="Montserrat"/>
                <a:cs typeface="Montserrat"/>
                <a:sym typeface="Montserrat"/>
              </a:rPr>
              <a:t>CE PROJET A PERMIS DE MENER UNE ANALYSE COMPLÈTE DE LA CONSOMMATION ÉLECTRIQUE ET DE CONSTRUIRE DES MODÈLES PRÉDICTIFS PERFORMANTS. LES RÉSULTATS OBTENUS DÉMONTRENT L’INTÉRÊT DE LA DATA SCIENCE POUR LA PRÉVISION ÉNERGÉTIQUE ET OUVRENT LA VOIE À DES APPLICATIONS CONCRÈTES DANS LA GESTION DES RÉSEAUX ÉLECTRIQUES.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3468518" y="3215144"/>
            <a:ext cx="9753600" cy="3144561"/>
          </a:xfrm>
          <a:custGeom>
            <a:avLst/>
            <a:gdLst/>
            <a:ahLst/>
            <a:cxnLst/>
            <a:rect r="r" b="b" t="t" l="l"/>
            <a:pathLst>
              <a:path h="3144561" w="9753600">
                <a:moveTo>
                  <a:pt x="0" y="0"/>
                </a:moveTo>
                <a:lnTo>
                  <a:pt x="9753600" y="0"/>
                </a:lnTo>
                <a:lnTo>
                  <a:pt x="9753600" y="3144561"/>
                </a:lnTo>
                <a:lnTo>
                  <a:pt x="0" y="31445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993295" y="4701235"/>
            <a:ext cx="1848606" cy="1848606"/>
          </a:xfrm>
          <a:custGeom>
            <a:avLst/>
            <a:gdLst/>
            <a:ahLst/>
            <a:cxnLst/>
            <a:rect r="r" b="b" t="t" l="l"/>
            <a:pathLst>
              <a:path h="1848606" w="1848606">
                <a:moveTo>
                  <a:pt x="0" y="0"/>
                </a:moveTo>
                <a:lnTo>
                  <a:pt x="1848606" y="0"/>
                </a:lnTo>
                <a:lnTo>
                  <a:pt x="1848606" y="1848606"/>
                </a:lnTo>
                <a:lnTo>
                  <a:pt x="0" y="18486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224742" y="1784928"/>
            <a:ext cx="4823433" cy="2097404"/>
          </a:xfrm>
          <a:prstGeom prst="rect">
            <a:avLst/>
          </a:prstGeom>
        </p:spPr>
        <p:txBody>
          <a:bodyPr anchor="t" rtlCol="false" tIns="0" lIns="0" bIns="0" rIns="0">
            <a:spAutoFit/>
          </a:bodyPr>
          <a:lstStyle/>
          <a:p>
            <a:pPr algn="l" marL="0" indent="0" lvl="0">
              <a:lnSpc>
                <a:spcPts val="7919"/>
              </a:lnSpc>
            </a:pPr>
            <a:r>
              <a:rPr lang="en-US" sz="8799">
                <a:solidFill>
                  <a:srgbClr val="1F3685"/>
                </a:solidFill>
                <a:latin typeface="Archivo Black"/>
                <a:ea typeface="Archivo Black"/>
                <a:cs typeface="Archivo Black"/>
                <a:sym typeface="Archivo Black"/>
              </a:rPr>
              <a:t>THANK YOU!</a:t>
            </a:r>
          </a:p>
        </p:txBody>
      </p:sp>
      <p:grpSp>
        <p:nvGrpSpPr>
          <p:cNvPr name="Group 5" id="5"/>
          <p:cNvGrpSpPr/>
          <p:nvPr/>
        </p:nvGrpSpPr>
        <p:grpSpPr>
          <a:xfrm rot="0">
            <a:off x="-4037015" y="2745311"/>
            <a:ext cx="4536893" cy="453689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E9FF"/>
            </a:solidFill>
          </p:spPr>
        </p:sp>
        <p:sp>
          <p:nvSpPr>
            <p:cNvPr name="TextBox 7" id="7"/>
            <p:cNvSpPr txBox="true"/>
            <p:nvPr/>
          </p:nvSpPr>
          <p:spPr>
            <a:xfrm>
              <a:off x="76200" y="123825"/>
              <a:ext cx="660400" cy="612775"/>
            </a:xfrm>
            <a:prstGeom prst="rect">
              <a:avLst/>
            </a:prstGeom>
          </p:spPr>
          <p:txBody>
            <a:bodyPr anchor="ctr" rtlCol="false" tIns="50800" lIns="50800" bIns="50800" rIns="50800"/>
            <a:lstStyle/>
            <a:p>
              <a:pPr algn="ctr">
                <a:lnSpc>
                  <a:spcPts val="1620"/>
                </a:lnSpc>
              </a:pPr>
            </a:p>
          </p:txBody>
        </p:sp>
      </p:grpSp>
      <p:grpSp>
        <p:nvGrpSpPr>
          <p:cNvPr name="Group 8" id="8"/>
          <p:cNvGrpSpPr/>
          <p:nvPr/>
        </p:nvGrpSpPr>
        <p:grpSpPr>
          <a:xfrm rot="0">
            <a:off x="6302547" y="3151668"/>
            <a:ext cx="1461327" cy="146132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4CC0"/>
            </a:solidFill>
          </p:spPr>
        </p:sp>
        <p:sp>
          <p:nvSpPr>
            <p:cNvPr name="TextBox 10" id="10"/>
            <p:cNvSpPr txBox="true"/>
            <p:nvPr/>
          </p:nvSpPr>
          <p:spPr>
            <a:xfrm>
              <a:off x="76200" y="123825"/>
              <a:ext cx="660400" cy="612775"/>
            </a:xfrm>
            <a:prstGeom prst="rect">
              <a:avLst/>
            </a:prstGeom>
          </p:spPr>
          <p:txBody>
            <a:bodyPr anchor="ctr" rtlCol="false" tIns="50800" lIns="50800" bIns="50800" rIns="50800"/>
            <a:lstStyle/>
            <a:p>
              <a:pPr algn="ctr">
                <a:lnSpc>
                  <a:spcPts val="162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DAHAF840ODU</dc:identifier>
  <dcterms:modified xsi:type="dcterms:W3CDTF">2011-08-01T06:04:30Z</dcterms:modified>
  <cp:revision>1</cp:revision>
  <dc:title>02/02/2026</dc:title>
</cp:coreProperties>
</file>